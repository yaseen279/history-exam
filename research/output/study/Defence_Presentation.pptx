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021526d-65a6-53fc-cfd6-c70ab6c04da4}">
          <p14:sldIdLst>
            <p14:sldId id="256"/>
            <p14:sldId id="257"/>
            <p14:sldId id="258"/>
            <p14:sldId id="259"/>
          </p14:sldIdLst>
        </p14:section>
        <p14:section name="Methods" id="{b899928c-bd48-a8ca-b8d6-8db4e4e71231}">
          <p14:sldIdLst>
            <p14:sldId id="260"/>
            <p14:sldId id="261"/>
          </p14:sldIdLst>
        </p14:section>
        <p14:section name="Results" id="{33e93fc1-0e30-b93d-1cef-ed16a0b3c952}">
          <p14:sldIdLst>
            <p14:sldId id="262"/>
            <p14:sldId id="263"/>
            <p14:sldId id="264"/>
            <p14:sldId id="265"/>
            <p14:sldId id="266"/>
            <p14:sldId id="267"/>
            <p14:sldId id="268"/>
            <p14:sldId id="269"/>
            <p14:sldId id="270"/>
            <p14:sldId id="271"/>
          </p14:sldIdLst>
        </p14:section>
        <p14:section name="Discussion" id="{040f0d08-ee6d-20b0-055f-9b63ac1fbc1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Tools used to look up symptoms (%)</a:t>
            </a:r>
          </a:p>
        </c:rich>
      </c:tx>
      <c:layout/>
      <c:overlay val="0"/>
    </c:title>
    <c:autoTitleDeleted val="0"/>
    <c:plotArea>
      <c:layout/>
      <c:barChart>
        <c:barDir val="bar"/>
        <c:grouping val="clustered"/>
        <c:varyColors val="0"/>
        <c:ser>
          <c:idx val="0"/>
          <c:order val="0"/>
          <c:tx>
            <c:strRef>
              <c:f>Sheet1!$B$1</c:f>
              <c:strCache>
                <c:ptCount val="1"/>
                <c:pt idx="0">
                  <c:v>Tools</c:v>
                </c:pt>
              </c:strCache>
            </c:strRef>
          </c:tx>
          <c:spPr>
            <a:solidFill>
              <a:srgbClr val="2A78D6"/>
            </a:solidFill>
            <a:effectLst/>
          </c:spPr>
          <c:invertIfNegative val="0"/>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cat>
            <c:multiLvlStrRef>
              <c:f>Sheet1!$A$2:$A$5</c:f>
              <c:multiLvlStrCache>
                <c:ptCount val="4"/>
                <c:lvl>
                  <c:pt idx="0">
                    <c:v>AI chatbots</c:v>
                  </c:pt>
                  <c:pt idx="1">
                    <c:v>Search engines</c:v>
                  </c:pt>
                  <c:pt idx="2">
                    <c:v>Medical platforms</c:v>
                  </c:pt>
                  <c:pt idx="3">
                    <c:v>Social media</c:v>
                  </c:pt>
                </c:lvl>
              </c:multiLvlStrCache>
            </c:multiLvlStrRef>
          </c:cat>
          <c:val>
            <c:numRef>
              <c:f>Sheet1!$B$2:$B$5</c:f>
              <c:numCache>
                <c:formatCode>General</c:formatCode>
                <c:ptCount val="4"/>
                <c:pt idx="0">
                  <c:v>88.7</c:v>
                </c:pt>
                <c:pt idx="1">
                  <c:v>56.3</c:v>
                </c:pt>
                <c:pt idx="2">
                  <c:v>18.3</c:v>
                </c:pt>
                <c:pt idx="3">
                  <c:v>10.7</c:v>
                </c:pt>
              </c:numCache>
            </c:numRef>
          </c:val>
        </c:ser>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Motivations for searching (%)</a:t>
            </a:r>
          </a:p>
        </c:rich>
      </c:tx>
      <c:layout/>
      <c:overlay val="0"/>
    </c:title>
    <c:autoTitleDeleted val="0"/>
    <c:plotArea>
      <c:layout/>
      <c:barChart>
        <c:barDir val="bar"/>
        <c:grouping val="clustered"/>
        <c:varyColors val="0"/>
        <c:ser>
          <c:idx val="0"/>
          <c:order val="0"/>
          <c:tx>
            <c:strRef>
              <c:f>Sheet1!$B$1</c:f>
              <c:strCache>
                <c:ptCount val="1"/>
                <c:pt idx="0">
                  <c:v>Motives</c:v>
                </c:pt>
              </c:strCache>
            </c:strRef>
          </c:tx>
          <c:spPr>
            <a:solidFill>
              <a:srgbClr val="2A78D6"/>
            </a:solidFill>
            <a:effectLst/>
          </c:spPr>
          <c:invertIfNegative val="0"/>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cat>
            <c:multiLvlStrRef>
              <c:f>Sheet1!$A$2:$A$6</c:f>
              <c:multiLvlStrCache>
                <c:ptCount val="5"/>
                <c:lvl>
                  <c:pt idx="0">
                    <c:v>Convenience</c:v>
                  </c:pt>
                  <c:pt idx="1">
                    <c:v>Is a doctor needed?</c:v>
                  </c:pt>
                  <c:pt idx="2">
                    <c:v>Instant reassurance</c:v>
                  </c:pt>
                  <c:pt idx="3">
                    <c:v>Self-diagnosis</c:v>
                  </c:pt>
                  <c:pt idx="4">
                    <c:v>Cost / logistics</c:v>
                  </c:pt>
                </c:lvl>
              </c:multiLvlStrCache>
            </c:multiLvlStrRef>
          </c:cat>
          <c:val>
            <c:numRef>
              <c:f>Sheet1!$B$2:$B$6</c:f>
              <c:numCache>
                <c:formatCode>General</c:formatCode>
                <c:ptCount val="5"/>
                <c:pt idx="0">
                  <c:v>80</c:v>
                </c:pt>
                <c:pt idx="1">
                  <c:v>57.7</c:v>
                </c:pt>
                <c:pt idx="2">
                  <c:v>51</c:v>
                </c:pt>
                <c:pt idx="3">
                  <c:v>23</c:v>
                </c:pt>
                <c:pt idx="4">
                  <c:v>18</c:v>
                </c:pt>
              </c:numCache>
            </c:numRef>
          </c:val>
        </c:ser>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Correlation with each CSS subscale</a:t>
            </a:r>
          </a:p>
        </c:rich>
      </c:tx>
      <c:layout/>
      <c:overlay val="0"/>
    </c:title>
    <c:autoTitleDeleted val="0"/>
    <c:plotArea>
      <c:layout/>
      <c:barChart>
        <c:barDir val="bar"/>
        <c:grouping val="clustered"/>
        <c:varyColors val="0"/>
        <c:ser>
          <c:idx val="0"/>
          <c:order val="0"/>
          <c:tx>
            <c:strRef>
              <c:f>Sheet1!$B$1</c:f>
              <c:strCache>
                <c:ptCount val="1"/>
                <c:pt idx="0">
                  <c:v>r</c:v>
                </c:pt>
              </c:strCache>
            </c:strRef>
          </c:tx>
          <c:spPr>
            <a:solidFill>
              <a:srgbClr val="EB6834"/>
            </a:solidFill>
            <a:effectLst/>
          </c:spPr>
          <c:invertIfNegative val="0"/>
          <c:dLbls>
            <c:numFmt formatCode="0.00"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cat>
            <c:multiLvlStrRef>
              <c:f>Sheet1!$A$2:$A$5</c:f>
              <c:multiLvlStrCache>
                <c:ptCount val="4"/>
                <c:lvl>
                  <c:pt idx="0">
                    <c:v>Excessiveness</c:v>
                  </c:pt>
                  <c:pt idx="1">
                    <c:v>Distress</c:v>
                  </c:pt>
                  <c:pt idx="2">
                    <c:v>Compulsion</c:v>
                  </c:pt>
                  <c:pt idx="3">
                    <c:v>Reassurance</c:v>
                  </c:pt>
                </c:lvl>
              </c:multiLvlStrCache>
            </c:multiLvlStrRef>
          </c:cat>
          <c:val>
            <c:numRef>
              <c:f>Sheet1!$B$2:$B$5</c:f>
              <c:numCache>
                <c:formatCode>General</c:formatCode>
                <c:ptCount val="4"/>
                <c:pt idx="0">
                  <c:v>0.46</c:v>
                </c:pt>
                <c:pt idx="1">
                  <c:v>0.45</c:v>
                </c:pt>
                <c:pt idx="2">
                  <c:v>0.25</c:v>
                </c:pt>
                <c:pt idx="3">
                  <c:v>0.24</c:v>
                </c:pt>
              </c:numCache>
            </c:numRef>
          </c:val>
        </c:ser>
        <c:dLbls>
          <c:numFmt formatCode="0.00"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mn-lt"/>
              </a:defRPr>
            </a:pPr>
            <a:r>
              <a:rPr sz="1400" b="0" i="0" u="none" strike="noStrike">
                <a:solidFill>
                  <a:srgbClr val="0B2545"/>
                </a:solidFill>
                <a:latin typeface="+mn-lt"/>
              </a:rPr>
              <a:t>After searching, people… (%)</a:t>
            </a:r>
          </a:p>
        </c:rich>
      </c:tx>
      <c:layout/>
      <c:overlay val="0"/>
    </c:title>
    <c:autoTitleDeleted val="0"/>
    <c:plotArea>
      <c:layout/>
      <c:barChart>
        <c:barDir val="bar"/>
        <c:grouping val="clustered"/>
        <c:varyColors val="0"/>
        <c:ser>
          <c:idx val="0"/>
          <c:order val="0"/>
          <c:tx>
            <c:strRef>
              <c:f>Sheet1!$B$1</c:f>
              <c:strCache>
                <c:ptCount val="1"/>
                <c:pt idx="0">
                  <c:v>Behaviour</c:v>
                </c:pt>
              </c:strCache>
            </c:strRef>
          </c:tx>
          <c:spPr>
            <a:solidFill>
              <a:srgbClr val="2A78D6"/>
            </a:solidFill>
            <a:effectLst/>
          </c:spPr>
          <c:invertIfNegative val="0"/>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cat>
            <c:multiLvlStrRef>
              <c:f>Sheet1!$A$2:$A$7</c:f>
              <c:multiLvlStrCache>
                <c:ptCount val="6"/>
                <c:lvl>
                  <c:pt idx="0">
                    <c:v>Delay/skip care (reassured)</c:v>
                  </c:pt>
                  <c:pt idx="1">
                    <c:v>Ignore the symptom</c:v>
                  </c:pt>
                  <c:pt idx="2">
                    <c:v>Visit multiple doctors</c:v>
                  </c:pt>
                  <c:pt idx="3">
                    <c:v>Urgent visit / ER</c:v>
                  </c:pt>
                  <c:pt idx="4">
                    <c:v>Self-medication</c:v>
                  </c:pt>
                  <c:pt idx="5">
                    <c:v>Delay care (frightened)</c:v>
                  </c:pt>
                </c:lvl>
              </c:multiLvlStrCache>
            </c:multiLvlStrRef>
          </c:cat>
          <c:val>
            <c:numRef>
              <c:f>Sheet1!$B$2:$B$7</c:f>
              <c:numCache>
                <c:formatCode>General</c:formatCode>
                <c:ptCount val="6"/>
                <c:pt idx="0">
                  <c:v>34.7</c:v>
                </c:pt>
                <c:pt idx="1">
                  <c:v>30</c:v>
                </c:pt>
                <c:pt idx="2">
                  <c:v>25.3</c:v>
                </c:pt>
                <c:pt idx="3">
                  <c:v>22</c:v>
                </c:pt>
                <c:pt idx="4">
                  <c:v>21.3</c:v>
                </c:pt>
                <c:pt idx="5">
                  <c:v>8.7</c:v>
                </c:pt>
              </c:numCache>
            </c:numRef>
          </c:val>
        </c:ser>
        <c:dLbls>
          <c:numFmt formatCode="0&quot;%&quot;" sourceLinked="0"/>
          <c:txPr>
            <a:bodyPr/>
            <a:lstStyle/>
            <a:p>
              <a:pPr>
                <a:defRPr b="0" i="0" strike="noStrike" sz="1200" u="none">
                  <a:solidFill>
                    <a:srgbClr val="1B1B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title and the team. 'Today we present our study on how people in Baghdad use search engines and AI chatbots before seeing a doctor, and how this relates to health anxiety and cyberchondria.'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searches symptoms online; now AI chatbots answer them conversationally. For some people searching makes worry worse: cyberchondria. Health anxiety increases healthcare use and costs. Iraq has over 80% Internet penetration but no data on this, and AI chatbots had not been studied next to search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anxiety: persistent worry about having a serious illness, kept going by misinterpreting sensations and seeking reassurance. Cyberchondria: excessive online searching that increases distress. Theory: a cycle in which anxiety drives searching, searching drives distress, and distress drives reassurance seeking. Our question was whether our data fit this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aim, then the four hypotheses briefly. Mention we also described tools, motives and behaviours.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Cross-sectional online survey in Baghdad, 17 July 2026 to 11 September 2026. Convenience and snowball sampling, n = 300. Sample size: 194 needed to detect r = 0.20 with 80% power; our sample of 300 exceeds this. Bilingual Google Form with SHAI-14 and CSS-12. Analysis: reliability and CFA, correlations, non-parametric tests with FDR correction, robust regression, logistic models, bootstrapped mediation and moderation, sensitivity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adults. 62.3% aged 20–29, 56.3% female, 44.0% medical students, 21.7% with a chronic condition. Acknowledge that the sample is young and heavy in medical students: this limits generalisation of percentages, but associations were the same across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88.7% use AI chatbots versus 56.3% search engines; 41.0% use AI without any search engine. ChatGPT dominates. Main motives: convenience, deciding whether a doctor is needed, and instant reassurance.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SHAI mean 12.3; 19% scored 18 or more (95% CI 15.0–23.8%). CSS mean 28.9. People search a lot (excessiveness highest) but it rarely disrupts daily life (compulsion lowest). Both scales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 r = 0.47 (95% CI 0.38–0.55); partial r = 0.48 after adjusting for all covariates. Strongest for excessive searching (0.46) and post-search distress (0.45). In regression, health anxiety is the strongest predictor (beta 0.48); R-squared rises from 0.133 to 0.317 when health anxiety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by item, 111 of 168 pairs were significant after FDR correction. The strongest links involve fear of serious illness and interpreting sensations, for example fear of illness with panic when reading about a rare condition. Simply noticing aches and sensations was not linked. This fits the cognitive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Elevated health anxiety is independently associated with higher cyberchondria (AOR 3.12 per SD), searching for instant reassurance (AOR 3.83) and younger age (AOR 0.61 per age step). AUC 0.83. Chronic illness predicts SHAI in linear models. Demographics explain almost none of cyberchondria (R-squared 0.030).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Excessive searching carries part of the link from health anxiety to distress (indirect 0.16, CI 0.11–0.23). Post-search distress carries almost all of the link from health anxiety to reassurance-seeking visits (direct effect drops to 0.01). The reverse path is also significant (0.15). Say clearly: consistent with a two-way cycle, but one-time data cannot prove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response: delay or skip care because reassured (34.7%). Others escalate: urgent care 22.0%, multiple doctors 25.3%. Only 27.0% always tell their doctor; 31.7% never do. Paradox: higher health anxiety means more hiding (AOR 1.47); higher cyberchondria means less (AOR 0.57). Clinicians should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users had higher cyberchondria (+5.3 points, adjusted), mainly excessiveness and reassurance seeking. But with the strict definition (only those who ticked AI), the effect disappears (B = 1.5, p = 0.31). 32 people named a chatbot without ticking it, and they had the highest scores; only 34 were non-users. AI did not change the strength of the anxiety-cyberchondria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briefly; emphasise what was done to mitigate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conclusions, then recommendations for clinicians, public health, AI developers and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20116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977640"/>
            <a:ext cx="11094415"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2801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657600"/>
            <a:ext cx="11094415"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6400800" cy="274320"/>
          </a:xfrm>
          <a:prstGeom prst="rect">
            <a:avLst/>
          </a:prstGeom>
          <a:noFill/>
          <a:ln/>
        </p:spPr>
        <p:txBody>
          <a:bodyPr wrap="square" rtlCol="0" anchor="ctr"/>
          <a:lstStyle/>
          <a:p>
            <a:pPr indent="0" marL="0">
              <a:buNone/>
            </a:pPr>
            <a:r>
              <a:rPr lang="en-US" sz="1000" dirty="0">
                <a:solidFill>
                  <a:srgbClr val="898781"/>
                </a:solidFill>
              </a:rPr>
              <a:t>AI, search engines and cyberchondria · Baghdad</a:t>
            </a:r>
            <a:endParaRPr lang="en-US" sz="10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201168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Artificial Intelligence, Search Engines, and Cyberchondria</a:t>
            </a:r>
            <a:endParaRPr lang="en-US" sz="4000" dirty="0"/>
          </a:p>
        </p:txBody>
      </p:sp>
      <p:sp>
        <p:nvSpPr>
          <p:cNvPr id="3" name="Text 0"/>
          <p:cNvSpPr/>
          <p:nvPr>
            <p:ph idx="101" type="body" hasCustomPrompt="1"/>
          </p:nvPr>
        </p:nvSpPr>
        <p:spPr>
          <a:xfrm>
            <a:off x="548640" y="3977640"/>
            <a:ext cx="11094415" cy="1463040"/>
          </a:xfrm>
          <a:prstGeom prst="rect">
            <a:avLst/>
          </a:prstGeom>
          <a:noFill/>
          <a:ln/>
        </p:spPr>
        <p:txBody>
          <a:bodyPr wrap="square" rtlCol="0" anchor="t"/>
          <a:lstStyle/>
          <a:p>
            <a:pPr indent="0" marL="0">
              <a:buNone/>
            </a:pPr>
            <a:r>
              <a:rPr lang="en-US" sz="1800" dirty="0">
                <a:solidFill>
                  <a:schemeClr val="bg2"/>
                </a:solidFill>
              </a:rPr>
              <a:t>A Study of Patient Pre-Consultation Behavior in Baghdad</a:t>
            </a:r>
            <a:endParaRPr lang="en-US" sz="1800" dirty="0"/>
          </a:p>
          <a:p>
            <a:pPr indent="0" marL="0">
              <a:buNone/>
            </a:pPr>
            <a:r>
              <a:rPr lang="en-US" sz="1800" dirty="0">
                <a:solidFill>
                  <a:schemeClr val="bg2"/>
                </a:solidFill>
              </a:rPr>
              <a:t>[Student names]  ·  Supervisor: [name]  ·  [College], [Year]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this study matters</a:t>
            </a:r>
            <a:endParaRPr lang="en-US" sz="3000" dirty="0"/>
          </a:p>
        </p:txBody>
      </p:sp>
      <p:sp>
        <p:nvSpPr>
          <p:cNvPr id="4" name="reason 1"/>
          <p:cNvSpPr/>
          <p:nvPr/>
        </p:nvSpPr>
        <p:spPr>
          <a:xfrm>
            <a:off x="548640" y="1463040"/>
            <a:ext cx="2606040" cy="3566160"/>
          </a:xfrm>
          <a:prstGeom prst="roundRect">
            <a:avLst>
              <a:gd name="adj" fmla="val 2807"/>
            </a:avLst>
          </a:prstGeom>
          <a:solidFill>
            <a:schemeClr val="bg2"/>
          </a:solidFill>
          <a:ln w="12700">
            <a:solidFill>
              <a:schemeClr val="bg2"/>
            </a:solidFill>
            <a:prstDash val="solid"/>
          </a:ln>
        </p:spPr>
      </p:sp>
      <p:sp>
        <p:nvSpPr>
          <p:cNvPr id="5" name="marker 1"/>
          <p:cNvSpPr/>
          <p:nvPr/>
        </p:nvSpPr>
        <p:spPr>
          <a:xfrm>
            <a:off x="822960" y="173736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82296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822960" y="2468880"/>
            <a:ext cx="2103120"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Everyone searches</a:t>
            </a:r>
            <a:endParaRPr lang="en-US" sz="2000" dirty="0"/>
          </a:p>
        </p:txBody>
      </p:sp>
      <p:sp>
        <p:nvSpPr>
          <p:cNvPr id="8" name="Text 5"/>
          <p:cNvSpPr txBox="1"/>
          <p:nvPr/>
        </p:nvSpPr>
        <p:spPr>
          <a:xfrm>
            <a:off x="822960" y="3337560"/>
            <a:ext cx="2103120" cy="2103120"/>
          </a:xfrm>
          <a:prstGeom prst="rect">
            <a:avLst/>
          </a:prstGeom>
          <a:noFill/>
          <a:ln/>
        </p:spPr>
        <p:txBody>
          <a:bodyPr wrap="square" lIns="0" tIns="0" rIns="0" bIns="0" rtlCol="0" anchor="t"/>
          <a:lstStyle/>
          <a:p>
            <a:pPr indent="0" marL="0">
              <a:buNone/>
            </a:pPr>
            <a:r>
              <a:rPr lang="en-US" sz="1500" dirty="0">
                <a:solidFill>
                  <a:schemeClr val="tx1"/>
                </a:solidFill>
              </a:rPr>
              <a:t>Looking up symptoms before seeing a doctor is now routine; more than 80% of Iraqis are online.</a:t>
            </a:r>
            <a:endParaRPr lang="en-US" sz="1500" dirty="0"/>
          </a:p>
        </p:txBody>
      </p:sp>
      <p:sp>
        <p:nvSpPr>
          <p:cNvPr id="9" name="reason 2"/>
          <p:cNvSpPr/>
          <p:nvPr/>
        </p:nvSpPr>
        <p:spPr>
          <a:xfrm>
            <a:off x="3355848" y="1463040"/>
            <a:ext cx="2606040" cy="3566160"/>
          </a:xfrm>
          <a:prstGeom prst="roundRect">
            <a:avLst>
              <a:gd name="adj" fmla="val 2807"/>
            </a:avLst>
          </a:prstGeom>
          <a:solidFill>
            <a:schemeClr val="bg2"/>
          </a:solidFill>
          <a:ln w="12700">
            <a:solidFill>
              <a:schemeClr val="bg2"/>
            </a:solidFill>
            <a:prstDash val="solid"/>
          </a:ln>
        </p:spPr>
      </p:sp>
      <p:sp>
        <p:nvSpPr>
          <p:cNvPr id="10" name="marker 2"/>
          <p:cNvSpPr/>
          <p:nvPr/>
        </p:nvSpPr>
        <p:spPr>
          <a:xfrm>
            <a:off x="3630168" y="173736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3630168"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3630168" y="2468880"/>
            <a:ext cx="2103120"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AI now answers</a:t>
            </a:r>
            <a:endParaRPr lang="en-US" sz="2000" dirty="0"/>
          </a:p>
        </p:txBody>
      </p:sp>
      <p:sp>
        <p:nvSpPr>
          <p:cNvPr id="13" name="Text 10"/>
          <p:cNvSpPr txBox="1"/>
          <p:nvPr/>
        </p:nvSpPr>
        <p:spPr>
          <a:xfrm>
            <a:off x="3630168" y="3337560"/>
            <a:ext cx="2103120" cy="2103120"/>
          </a:xfrm>
          <a:prstGeom prst="rect">
            <a:avLst/>
          </a:prstGeom>
          <a:noFill/>
          <a:ln/>
        </p:spPr>
        <p:txBody>
          <a:bodyPr wrap="square" lIns="0" tIns="0" rIns="0" bIns="0" rtlCol="0" anchor="t"/>
          <a:lstStyle/>
          <a:p>
            <a:pPr indent="0" marL="0">
              <a:buNone/>
            </a:pPr>
            <a:r>
              <a:rPr lang="en-US" sz="1500" dirty="0">
                <a:solidFill>
                  <a:schemeClr val="tx1"/>
                </a:solidFill>
              </a:rPr>
              <a:t>ChatGPT and Gemini give fluent, personal, endlessly available answers about symptoms.</a:t>
            </a:r>
            <a:endParaRPr lang="en-US" sz="1500" dirty="0"/>
          </a:p>
        </p:txBody>
      </p:sp>
      <p:sp>
        <p:nvSpPr>
          <p:cNvPr id="14" name="reason 3"/>
          <p:cNvSpPr/>
          <p:nvPr/>
        </p:nvSpPr>
        <p:spPr>
          <a:xfrm>
            <a:off x="6163056" y="1463040"/>
            <a:ext cx="2606040" cy="3566160"/>
          </a:xfrm>
          <a:prstGeom prst="roundRect">
            <a:avLst>
              <a:gd name="adj" fmla="val 2807"/>
            </a:avLst>
          </a:prstGeom>
          <a:solidFill>
            <a:schemeClr val="bg2"/>
          </a:solidFill>
          <a:ln w="12700">
            <a:solidFill>
              <a:schemeClr val="bg2"/>
            </a:solidFill>
            <a:prstDash val="solid"/>
          </a:ln>
        </p:spPr>
      </p:sp>
      <p:sp>
        <p:nvSpPr>
          <p:cNvPr id="15" name="marker 3"/>
          <p:cNvSpPr/>
          <p:nvPr/>
        </p:nvSpPr>
        <p:spPr>
          <a:xfrm>
            <a:off x="6437376" y="173736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6437376"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6437376" y="2468880"/>
            <a:ext cx="2103120"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Searching can backfire</a:t>
            </a:r>
            <a:endParaRPr lang="en-US" sz="2000" dirty="0"/>
          </a:p>
        </p:txBody>
      </p:sp>
      <p:sp>
        <p:nvSpPr>
          <p:cNvPr id="18" name="Text 15"/>
          <p:cNvSpPr txBox="1"/>
          <p:nvPr/>
        </p:nvSpPr>
        <p:spPr>
          <a:xfrm>
            <a:off x="6437376" y="3337560"/>
            <a:ext cx="2103120" cy="2103120"/>
          </a:xfrm>
          <a:prstGeom prst="rect">
            <a:avLst/>
          </a:prstGeom>
          <a:noFill/>
          <a:ln/>
        </p:spPr>
        <p:txBody>
          <a:bodyPr wrap="square" lIns="0" tIns="0" rIns="0" bIns="0" rtlCol="0" anchor="t"/>
          <a:lstStyle/>
          <a:p>
            <a:pPr indent="0" marL="0">
              <a:buNone/>
            </a:pPr>
            <a:r>
              <a:rPr lang="en-US" sz="1500" dirty="0">
                <a:solidFill>
                  <a:schemeClr val="tx1"/>
                </a:solidFill>
              </a:rPr>
              <a:t>For some, searching escalates worry instead of relieving it: cyberchondria.</a:t>
            </a:r>
            <a:endParaRPr lang="en-US" sz="1500" dirty="0"/>
          </a:p>
        </p:txBody>
      </p:sp>
      <p:sp>
        <p:nvSpPr>
          <p:cNvPr id="19" name="reason 4"/>
          <p:cNvSpPr/>
          <p:nvPr/>
        </p:nvSpPr>
        <p:spPr>
          <a:xfrm>
            <a:off x="8970264" y="1463040"/>
            <a:ext cx="2606040" cy="3566160"/>
          </a:xfrm>
          <a:prstGeom prst="roundRect">
            <a:avLst>
              <a:gd name="adj" fmla="val 2807"/>
            </a:avLst>
          </a:prstGeom>
          <a:solidFill>
            <a:schemeClr val="bg2"/>
          </a:solidFill>
          <a:ln w="12700">
            <a:solidFill>
              <a:schemeClr val="bg2"/>
            </a:solidFill>
            <a:prstDash val="solid"/>
          </a:ln>
        </p:spPr>
      </p:sp>
      <p:sp>
        <p:nvSpPr>
          <p:cNvPr id="20" name="marker 4"/>
          <p:cNvSpPr/>
          <p:nvPr/>
        </p:nvSpPr>
        <p:spPr>
          <a:xfrm>
            <a:off x="9244584" y="1737360"/>
            <a:ext cx="502920" cy="502920"/>
          </a:xfrm>
          <a:prstGeom prst="ellipse">
            <a:avLst/>
          </a:prstGeom>
          <a:solidFill>
            <a:schemeClr val="accent1"/>
          </a:solidFill>
          <a:ln w="12700">
            <a:solidFill>
              <a:schemeClr val="accent1"/>
            </a:solidFill>
            <a:prstDash val="solid"/>
          </a:ln>
        </p:spPr>
      </p:sp>
      <p:sp>
        <p:nvSpPr>
          <p:cNvPr id="21" name="Text 18"/>
          <p:cNvSpPr txBox="1"/>
          <p:nvPr/>
        </p:nvSpPr>
        <p:spPr>
          <a:xfrm>
            <a:off x="9244584"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9244584" y="2468880"/>
            <a:ext cx="2103120" cy="8229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No data from Iraq</a:t>
            </a:r>
            <a:endParaRPr lang="en-US" sz="2000" dirty="0"/>
          </a:p>
        </p:txBody>
      </p:sp>
      <p:sp>
        <p:nvSpPr>
          <p:cNvPr id="23" name="Text 20"/>
          <p:cNvSpPr txBox="1"/>
          <p:nvPr/>
        </p:nvSpPr>
        <p:spPr>
          <a:xfrm>
            <a:off x="9244584" y="3337560"/>
            <a:ext cx="2103120" cy="2103120"/>
          </a:xfrm>
          <a:prstGeom prst="rect">
            <a:avLst/>
          </a:prstGeom>
          <a:noFill/>
          <a:ln/>
        </p:spPr>
        <p:txBody>
          <a:bodyPr wrap="square" lIns="0" tIns="0" rIns="0" bIns="0" rtlCol="0" anchor="t"/>
          <a:lstStyle/>
          <a:p>
            <a:pPr indent="0" marL="0">
              <a:buNone/>
            </a:pPr>
            <a:r>
              <a:rPr lang="en-US" sz="1500" dirty="0">
                <a:solidFill>
                  <a:schemeClr val="tx1"/>
                </a:solidFill>
              </a:rPr>
              <a:t>No study had linked health anxiety, cyberchondria and AI use in Baghdad.</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Key concepts: health anxiety and cyberchondria</a:t>
            </a:r>
            <a:endParaRPr lang="en-US" sz="3000" dirty="0"/>
          </a:p>
        </p:txBody>
      </p:sp>
      <p:sp>
        <p:nvSpPr>
          <p:cNvPr id="4" name="def HA"/>
          <p:cNvSpPr/>
          <p:nvPr/>
        </p:nvSpPr>
        <p:spPr>
          <a:xfrm>
            <a:off x="548640" y="1371600"/>
            <a:ext cx="5120640" cy="1965960"/>
          </a:xfrm>
          <a:prstGeom prst="roundRect">
            <a:avLst>
              <a:gd name="adj" fmla="val 3721"/>
            </a:avLst>
          </a:prstGeom>
          <a:solidFill>
            <a:schemeClr val="bg2"/>
          </a:solidFill>
          <a:ln w="12700">
            <a:solidFill>
              <a:schemeClr val="bg2"/>
            </a:solidFill>
            <a:prstDash val="solid"/>
          </a:ln>
        </p:spPr>
      </p:sp>
      <p:sp>
        <p:nvSpPr>
          <p:cNvPr id="5" name="Text 2"/>
          <p:cNvSpPr txBox="1"/>
          <p:nvPr/>
        </p:nvSpPr>
        <p:spPr>
          <a:xfrm>
            <a:off x="822960" y="1554480"/>
            <a:ext cx="4572000" cy="457200"/>
          </a:xfrm>
          <a:prstGeom prst="rect">
            <a:avLst/>
          </a:prstGeom>
          <a:noFill/>
          <a:ln/>
        </p:spPr>
        <p:txBody>
          <a:bodyPr wrap="square" lIns="0" tIns="0" rIns="0" bIns="0" rtlCol="0" anchor="t"/>
          <a:lstStyle/>
          <a:p>
            <a:pPr indent="0" marL="0">
              <a:buNone/>
            </a:pPr>
            <a:r>
              <a:rPr lang="en-US" sz="2000" b="1" dirty="0">
                <a:solidFill>
                  <a:schemeClr val="accent1"/>
                </a:solidFill>
              </a:rPr>
              <a:t>Health anxiety</a:t>
            </a:r>
            <a:endParaRPr lang="en-US" sz="2000" dirty="0"/>
          </a:p>
        </p:txBody>
      </p:sp>
      <p:sp>
        <p:nvSpPr>
          <p:cNvPr id="6" name="Text 3"/>
          <p:cNvSpPr txBox="1"/>
          <p:nvPr/>
        </p:nvSpPr>
        <p:spPr>
          <a:xfrm>
            <a:off x="822960" y="2057400"/>
            <a:ext cx="4572000" cy="1188720"/>
          </a:xfrm>
          <a:prstGeom prst="rect">
            <a:avLst/>
          </a:prstGeom>
          <a:noFill/>
          <a:ln/>
        </p:spPr>
        <p:txBody>
          <a:bodyPr wrap="square" lIns="0" tIns="0" rIns="0" bIns="0" rtlCol="0" anchor="t"/>
          <a:lstStyle/>
          <a:p>
            <a:pPr indent="0" marL="0">
              <a:buNone/>
            </a:pPr>
            <a:r>
              <a:rPr lang="en-US" sz="1500" dirty="0">
                <a:solidFill>
                  <a:schemeClr val="tx1"/>
                </a:solidFill>
              </a:rPr>
              <a:t>Persistent worry about having a serious illness, maintained by misreading normal sensations and by reassurance seeking. Measured with SHAI-14 (0–42).</a:t>
            </a:r>
            <a:endParaRPr lang="en-US" sz="1500" dirty="0"/>
          </a:p>
        </p:txBody>
      </p:sp>
      <p:sp>
        <p:nvSpPr>
          <p:cNvPr id="7" name="def CC"/>
          <p:cNvSpPr/>
          <p:nvPr/>
        </p:nvSpPr>
        <p:spPr>
          <a:xfrm>
            <a:off x="548640" y="3611880"/>
            <a:ext cx="5120640" cy="1965960"/>
          </a:xfrm>
          <a:prstGeom prst="roundRect">
            <a:avLst>
              <a:gd name="adj" fmla="val 3721"/>
            </a:avLst>
          </a:prstGeom>
          <a:solidFill>
            <a:schemeClr val="bg2"/>
          </a:solidFill>
          <a:ln w="12700">
            <a:solidFill>
              <a:schemeClr val="bg2"/>
            </a:solidFill>
            <a:prstDash val="solid"/>
          </a:ln>
        </p:spPr>
      </p:sp>
      <p:sp>
        <p:nvSpPr>
          <p:cNvPr id="8" name="Text 5"/>
          <p:cNvSpPr txBox="1"/>
          <p:nvPr/>
        </p:nvSpPr>
        <p:spPr>
          <a:xfrm>
            <a:off x="822960" y="3794760"/>
            <a:ext cx="4572000" cy="457200"/>
          </a:xfrm>
          <a:prstGeom prst="rect">
            <a:avLst/>
          </a:prstGeom>
          <a:noFill/>
          <a:ln/>
        </p:spPr>
        <p:txBody>
          <a:bodyPr wrap="square" lIns="0" tIns="0" rIns="0" bIns="0" rtlCol="0" anchor="t"/>
          <a:lstStyle/>
          <a:p>
            <a:pPr indent="0" marL="0">
              <a:buNone/>
            </a:pPr>
            <a:r>
              <a:rPr lang="en-US" sz="2000" b="1" dirty="0">
                <a:solidFill>
                  <a:schemeClr val="accent2"/>
                </a:solidFill>
              </a:rPr>
              <a:t>Cyberchondria</a:t>
            </a:r>
            <a:endParaRPr lang="en-US" sz="2000" dirty="0"/>
          </a:p>
        </p:txBody>
      </p:sp>
      <p:sp>
        <p:nvSpPr>
          <p:cNvPr id="9" name="Text 6"/>
          <p:cNvSpPr txBox="1"/>
          <p:nvPr/>
        </p:nvSpPr>
        <p:spPr>
          <a:xfrm>
            <a:off x="822960" y="4297680"/>
            <a:ext cx="4572000" cy="1188720"/>
          </a:xfrm>
          <a:prstGeom prst="rect">
            <a:avLst/>
          </a:prstGeom>
          <a:noFill/>
          <a:ln/>
        </p:spPr>
        <p:txBody>
          <a:bodyPr wrap="square" lIns="0" tIns="0" rIns="0" bIns="0" rtlCol="0" anchor="t"/>
          <a:lstStyle/>
          <a:p>
            <a:pPr indent="0" marL="0">
              <a:buNone/>
            </a:pPr>
            <a:r>
              <a:rPr lang="en-US" sz="1500" dirty="0">
                <a:solidFill>
                  <a:schemeClr val="tx1"/>
                </a:solidFill>
              </a:rPr>
              <a:t>Excessive or repeated online health searching that increases distress. Measured with CSS-12 (12–60): excessiveness, compulsion, distress, reassurance.</a:t>
            </a:r>
            <a:endParaRPr lang="en-US" sz="1500" dirty="0"/>
          </a:p>
        </p:txBody>
      </p:sp>
      <p:sp>
        <p:nvSpPr>
          <p:cNvPr id="10" name="cycle Health anxiety"/>
          <p:cNvSpPr/>
          <p:nvPr/>
        </p:nvSpPr>
        <p:spPr>
          <a:xfrm>
            <a:off x="7635240" y="1371600"/>
            <a:ext cx="1737360" cy="868680"/>
          </a:xfrm>
          <a:prstGeom prst="roundRect">
            <a:avLst>
              <a:gd name="adj" fmla="val 10526"/>
            </a:avLst>
          </a:prstGeom>
          <a:solidFill>
            <a:schemeClr val="accent1"/>
          </a:solidFill>
          <a:ln w="19050">
            <a:solidFill>
              <a:schemeClr val="accent1"/>
            </a:solidFill>
            <a:prstDash val="solid"/>
          </a:ln>
        </p:spPr>
      </p:sp>
      <p:sp>
        <p:nvSpPr>
          <p:cNvPr id="11" name="Text 8"/>
          <p:cNvSpPr txBox="1"/>
          <p:nvPr/>
        </p:nvSpPr>
        <p:spPr>
          <a:xfrm>
            <a:off x="7635240" y="1371600"/>
            <a:ext cx="1737360" cy="868680"/>
          </a:xfrm>
          <a:prstGeom prst="rect">
            <a:avLst/>
          </a:prstGeom>
          <a:noFill/>
          <a:ln/>
        </p:spPr>
        <p:txBody>
          <a:bodyPr wrap="square" lIns="635" tIns="635" rIns="635" bIns="635" rtlCol="0" anchor="ctr"/>
          <a:lstStyle/>
          <a:p>
            <a:pPr algn="ctr" indent="0" marL="0">
              <a:buNone/>
            </a:pPr>
            <a:r>
              <a:rPr lang="en-US" sz="1400" b="1" dirty="0">
                <a:solidFill>
                  <a:schemeClr val="bg1"/>
                </a:solidFill>
              </a:rPr>
              <a:t>Health anxiety</a:t>
            </a:r>
            <a:endParaRPr lang="en-US" sz="1400" dirty="0"/>
          </a:p>
        </p:txBody>
      </p:sp>
      <p:sp>
        <p:nvSpPr>
          <p:cNvPr id="12" name="cycle Excessive searching"/>
          <p:cNvSpPr/>
          <p:nvPr/>
        </p:nvSpPr>
        <p:spPr>
          <a:xfrm>
            <a:off x="9281160" y="3017520"/>
            <a:ext cx="1737360" cy="868680"/>
          </a:xfrm>
          <a:prstGeom prst="roundRect">
            <a:avLst>
              <a:gd name="adj" fmla="val 10526"/>
            </a:avLst>
          </a:prstGeom>
          <a:solidFill>
            <a:schemeClr val="bg2"/>
          </a:solidFill>
          <a:ln w="19050">
            <a:solidFill>
              <a:schemeClr val="accent1"/>
            </a:solidFill>
            <a:prstDash val="solid"/>
          </a:ln>
        </p:spPr>
      </p:sp>
      <p:sp>
        <p:nvSpPr>
          <p:cNvPr id="13" name="Text 10"/>
          <p:cNvSpPr txBox="1"/>
          <p:nvPr/>
        </p:nvSpPr>
        <p:spPr>
          <a:xfrm>
            <a:off x="9281160" y="3017520"/>
            <a:ext cx="1737360" cy="868680"/>
          </a:xfrm>
          <a:prstGeom prst="rect">
            <a:avLst/>
          </a:prstGeom>
          <a:noFill/>
          <a:ln/>
        </p:spPr>
        <p:txBody>
          <a:bodyPr wrap="square" lIns="635" tIns="635" rIns="635" bIns="635" rtlCol="0" anchor="ctr"/>
          <a:lstStyle/>
          <a:p>
            <a:pPr algn="ctr" indent="0" marL="0">
              <a:buNone/>
            </a:pPr>
            <a:r>
              <a:rPr lang="en-US" sz="1400" b="1" dirty="0">
                <a:solidFill>
                  <a:schemeClr val="tx2"/>
                </a:solidFill>
              </a:rPr>
              <a:t>Excessive searching</a:t>
            </a:r>
            <a:endParaRPr lang="en-US" sz="1400" dirty="0"/>
          </a:p>
        </p:txBody>
      </p:sp>
      <p:sp>
        <p:nvSpPr>
          <p:cNvPr id="14" name="cycle Post-search distress"/>
          <p:cNvSpPr/>
          <p:nvPr/>
        </p:nvSpPr>
        <p:spPr>
          <a:xfrm>
            <a:off x="7635240" y="4663440"/>
            <a:ext cx="1737360" cy="868680"/>
          </a:xfrm>
          <a:prstGeom prst="roundRect">
            <a:avLst>
              <a:gd name="adj" fmla="val 10526"/>
            </a:avLst>
          </a:prstGeom>
          <a:solidFill>
            <a:schemeClr val="bg2"/>
          </a:solidFill>
          <a:ln w="19050">
            <a:solidFill>
              <a:schemeClr val="accent1"/>
            </a:solidFill>
            <a:prstDash val="solid"/>
          </a:ln>
        </p:spPr>
      </p:sp>
      <p:sp>
        <p:nvSpPr>
          <p:cNvPr id="15" name="Text 12"/>
          <p:cNvSpPr txBox="1"/>
          <p:nvPr/>
        </p:nvSpPr>
        <p:spPr>
          <a:xfrm>
            <a:off x="7635240" y="4663440"/>
            <a:ext cx="1737360" cy="868680"/>
          </a:xfrm>
          <a:prstGeom prst="rect">
            <a:avLst/>
          </a:prstGeom>
          <a:noFill/>
          <a:ln/>
        </p:spPr>
        <p:txBody>
          <a:bodyPr wrap="square" lIns="635" tIns="635" rIns="635" bIns="635" rtlCol="0" anchor="ctr"/>
          <a:lstStyle/>
          <a:p>
            <a:pPr algn="ctr" indent="0" marL="0">
              <a:buNone/>
            </a:pPr>
            <a:r>
              <a:rPr lang="en-US" sz="1400" b="1" dirty="0">
                <a:solidFill>
                  <a:schemeClr val="tx2"/>
                </a:solidFill>
              </a:rPr>
              <a:t>Post-search distress</a:t>
            </a:r>
            <a:endParaRPr lang="en-US" sz="1400" dirty="0"/>
          </a:p>
        </p:txBody>
      </p:sp>
      <p:sp>
        <p:nvSpPr>
          <p:cNvPr id="16" name="cycle Reassurance seeking"/>
          <p:cNvSpPr/>
          <p:nvPr/>
        </p:nvSpPr>
        <p:spPr>
          <a:xfrm>
            <a:off x="5989320" y="3017520"/>
            <a:ext cx="1737360" cy="868680"/>
          </a:xfrm>
          <a:prstGeom prst="roundRect">
            <a:avLst>
              <a:gd name="adj" fmla="val 10526"/>
            </a:avLst>
          </a:prstGeom>
          <a:solidFill>
            <a:schemeClr val="bg2"/>
          </a:solidFill>
          <a:ln w="19050">
            <a:solidFill>
              <a:schemeClr val="accent1"/>
            </a:solidFill>
            <a:prstDash val="solid"/>
          </a:ln>
        </p:spPr>
      </p:sp>
      <p:sp>
        <p:nvSpPr>
          <p:cNvPr id="17" name="Text 14"/>
          <p:cNvSpPr txBox="1"/>
          <p:nvPr/>
        </p:nvSpPr>
        <p:spPr>
          <a:xfrm>
            <a:off x="5989320" y="3017520"/>
            <a:ext cx="1737360" cy="868680"/>
          </a:xfrm>
          <a:prstGeom prst="rect">
            <a:avLst/>
          </a:prstGeom>
          <a:noFill/>
          <a:ln/>
        </p:spPr>
        <p:txBody>
          <a:bodyPr wrap="square" lIns="635" tIns="635" rIns="635" bIns="635" rtlCol="0" anchor="ctr"/>
          <a:lstStyle/>
          <a:p>
            <a:pPr algn="ctr" indent="0" marL="0">
              <a:buNone/>
            </a:pPr>
            <a:r>
              <a:rPr lang="en-US" sz="1400" b="1" dirty="0">
                <a:solidFill>
                  <a:schemeClr val="tx2"/>
                </a:solidFill>
              </a:rPr>
              <a:t>Reassurance seeking</a:t>
            </a:r>
            <a:endParaRPr lang="en-US" sz="1400" dirty="0"/>
          </a:p>
        </p:txBody>
      </p:sp>
      <p:sp>
        <p:nvSpPr>
          <p:cNvPr id="18" name="Shape 15"/>
          <p:cNvSpPr/>
          <p:nvPr/>
        </p:nvSpPr>
        <p:spPr>
          <a:xfrm>
            <a:off x="9372600" y="1828800"/>
            <a:ext cx="777240" cy="1143000"/>
          </a:xfrm>
          <a:prstGeom prst="line">
            <a:avLst/>
          </a:prstGeom>
          <a:noFill/>
          <a:ln w="25400">
            <a:solidFill>
              <a:srgbClr val="52514E"/>
            </a:solidFill>
            <a:prstDash val="solid"/>
            <a:tailEnd type="triangle"/>
          </a:ln>
        </p:spPr>
      </p:sp>
      <p:sp>
        <p:nvSpPr>
          <p:cNvPr id="19" name="Shape 16"/>
          <p:cNvSpPr/>
          <p:nvPr/>
        </p:nvSpPr>
        <p:spPr>
          <a:xfrm flipH="1">
            <a:off x="9372600" y="3931920"/>
            <a:ext cx="777240" cy="1143000"/>
          </a:xfrm>
          <a:prstGeom prst="line">
            <a:avLst/>
          </a:prstGeom>
          <a:noFill/>
          <a:ln w="25400">
            <a:solidFill>
              <a:srgbClr val="52514E"/>
            </a:solidFill>
            <a:prstDash val="solid"/>
            <a:tailEnd type="triangle"/>
          </a:ln>
        </p:spPr>
      </p:sp>
      <p:sp>
        <p:nvSpPr>
          <p:cNvPr id="20" name="Shape 17"/>
          <p:cNvSpPr/>
          <p:nvPr/>
        </p:nvSpPr>
        <p:spPr>
          <a:xfrm flipH="1" flipV="1">
            <a:off x="6858000" y="3931920"/>
            <a:ext cx="777240" cy="1143000"/>
          </a:xfrm>
          <a:prstGeom prst="line">
            <a:avLst/>
          </a:prstGeom>
          <a:noFill/>
          <a:ln w="25400">
            <a:solidFill>
              <a:srgbClr val="52514E"/>
            </a:solidFill>
            <a:prstDash val="solid"/>
            <a:tailEnd type="triangle"/>
          </a:ln>
        </p:spPr>
      </p:sp>
      <p:sp>
        <p:nvSpPr>
          <p:cNvPr id="21" name="Shape 18"/>
          <p:cNvSpPr/>
          <p:nvPr/>
        </p:nvSpPr>
        <p:spPr>
          <a:xfrm flipV="1">
            <a:off x="6858000" y="1828800"/>
            <a:ext cx="777240" cy="1143000"/>
          </a:xfrm>
          <a:prstGeom prst="line">
            <a:avLst/>
          </a:prstGeom>
          <a:noFill/>
          <a:ln w="25400">
            <a:solidFill>
              <a:srgbClr val="52514E"/>
            </a:solidFill>
            <a:prstDash val="solid"/>
            <a:tailEnd type="triangle"/>
          </a:ln>
        </p:spPr>
      </p:sp>
      <p:sp>
        <p:nvSpPr>
          <p:cNvPr id="22" name="Text 19"/>
          <p:cNvSpPr txBox="1"/>
          <p:nvPr/>
        </p:nvSpPr>
        <p:spPr>
          <a:xfrm>
            <a:off x="6400800" y="5669280"/>
            <a:ext cx="5120640" cy="365760"/>
          </a:xfrm>
          <a:prstGeom prst="rect">
            <a:avLst/>
          </a:prstGeom>
          <a:noFill/>
          <a:ln/>
        </p:spPr>
        <p:txBody>
          <a:bodyPr wrap="square" lIns="0" tIns="0" rIns="0" bIns="0" rtlCol="0" anchor="t"/>
          <a:lstStyle/>
          <a:p>
            <a:pPr algn="ctr" indent="0" marL="0">
              <a:buNone/>
            </a:pPr>
            <a:r>
              <a:rPr lang="en-US" sz="1300" i="1" dirty="0">
                <a:solidFill>
                  <a:srgbClr val="52514E"/>
                </a:solidFill>
              </a:rPr>
              <a:t>The proposed cycle we tested</a:t>
            </a:r>
            <a:endParaRPr lang="en-US" sz="13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Aim and hypotheses</a:t>
            </a:r>
            <a:endParaRPr lang="en-US" sz="3000" dirty="0"/>
          </a:p>
        </p:txBody>
      </p:sp>
      <p:sp>
        <p:nvSpPr>
          <p:cNvPr id="4" name="aim"/>
          <p:cNvSpPr/>
          <p:nvPr/>
        </p:nvSpPr>
        <p:spPr>
          <a:xfrm>
            <a:off x="548640" y="1371600"/>
            <a:ext cx="4206240" cy="4297680"/>
          </a:xfrm>
          <a:prstGeom prst="roundRect">
            <a:avLst>
              <a:gd name="adj" fmla="val 1739"/>
            </a:avLst>
          </a:prstGeom>
          <a:solidFill>
            <a:schemeClr val="tx2"/>
          </a:solidFill>
          <a:ln w="12700">
            <a:solidFill>
              <a:schemeClr val="tx2"/>
            </a:solidFill>
            <a:prstDash val="solid"/>
          </a:ln>
        </p:spPr>
      </p:sp>
      <p:sp>
        <p:nvSpPr>
          <p:cNvPr id="5" name="Text 2"/>
          <p:cNvSpPr txBox="1"/>
          <p:nvPr/>
        </p:nvSpPr>
        <p:spPr>
          <a:xfrm>
            <a:off x="868680" y="1645920"/>
            <a:ext cx="3657600" cy="457200"/>
          </a:xfrm>
          <a:prstGeom prst="rect">
            <a:avLst/>
          </a:prstGeom>
          <a:noFill/>
          <a:ln/>
        </p:spPr>
        <p:txBody>
          <a:bodyPr wrap="square" lIns="0" tIns="0" rIns="0" bIns="0" rtlCol="0" anchor="t"/>
          <a:lstStyle/>
          <a:p>
            <a:pPr indent="0" marL="0">
              <a:buNone/>
            </a:pPr>
            <a:r>
              <a:rPr lang="en-US" sz="2000" b="1" dirty="0">
                <a:solidFill>
                  <a:schemeClr val="bg1"/>
                </a:solidFill>
              </a:rPr>
              <a:t>Aim</a:t>
            </a:r>
            <a:endParaRPr lang="en-US" sz="2000" dirty="0"/>
          </a:p>
        </p:txBody>
      </p:sp>
      <p:sp>
        <p:nvSpPr>
          <p:cNvPr id="6" name="Text 3"/>
          <p:cNvSpPr txBox="1"/>
          <p:nvPr/>
        </p:nvSpPr>
        <p:spPr>
          <a:xfrm>
            <a:off x="868680" y="2194560"/>
            <a:ext cx="3566160" cy="3200400"/>
          </a:xfrm>
          <a:prstGeom prst="rect">
            <a:avLst/>
          </a:prstGeom>
          <a:noFill/>
          <a:ln/>
        </p:spPr>
        <p:txBody>
          <a:bodyPr wrap="square" lIns="0" tIns="0" rIns="0" bIns="0" rtlCol="0" anchor="t"/>
          <a:lstStyle/>
          <a:p>
            <a:pPr indent="0" marL="0">
              <a:buNone/>
            </a:pPr>
            <a:r>
              <a:rPr lang="en-US" sz="1600" dirty="0">
                <a:solidFill>
                  <a:schemeClr val="bg1"/>
                </a:solidFill>
              </a:rPr>
              <a:t>To study the relationship between health anxiety and cyberchondria, and their correlates, among adults in Baghdad who search for health information online, with attention to AI chatbots and pre-consultation behaviour.</a:t>
            </a:r>
            <a:endParaRPr lang="en-US" sz="1600" dirty="0"/>
          </a:p>
        </p:txBody>
      </p:sp>
      <p:sp>
        <p:nvSpPr>
          <p:cNvPr id="7" name="marker H1"/>
          <p:cNvSpPr/>
          <p:nvPr/>
        </p:nvSpPr>
        <p:spPr>
          <a:xfrm>
            <a:off x="5166360" y="1508760"/>
            <a:ext cx="502920" cy="502920"/>
          </a:xfrm>
          <a:prstGeom prst="ellipse">
            <a:avLst/>
          </a:prstGeom>
          <a:solidFill>
            <a:schemeClr val="accent1"/>
          </a:solidFill>
          <a:ln w="12700">
            <a:solidFill>
              <a:schemeClr val="accent1"/>
            </a:solidFill>
            <a:prstDash val="solid"/>
          </a:ln>
        </p:spPr>
      </p:sp>
      <p:sp>
        <p:nvSpPr>
          <p:cNvPr id="8" name="Text 5"/>
          <p:cNvSpPr txBox="1"/>
          <p:nvPr/>
        </p:nvSpPr>
        <p:spPr>
          <a:xfrm>
            <a:off x="516636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H1</a:t>
            </a:r>
            <a:endParaRPr lang="en-US" sz="1800" dirty="0"/>
          </a:p>
        </p:txBody>
      </p:sp>
      <p:sp>
        <p:nvSpPr>
          <p:cNvPr id="9" name="Text 6"/>
          <p:cNvSpPr txBox="1"/>
          <p:nvPr/>
        </p:nvSpPr>
        <p:spPr>
          <a:xfrm>
            <a:off x="5897880" y="1417320"/>
            <a:ext cx="5669280" cy="914400"/>
          </a:xfrm>
          <a:prstGeom prst="rect">
            <a:avLst/>
          </a:prstGeom>
          <a:noFill/>
          <a:ln/>
        </p:spPr>
        <p:txBody>
          <a:bodyPr wrap="square" lIns="0" tIns="0" rIns="0" bIns="0" rtlCol="0" anchor="ctr"/>
          <a:lstStyle/>
          <a:p>
            <a:pPr indent="0" marL="0">
              <a:buNone/>
            </a:pPr>
            <a:r>
              <a:rPr lang="en-US" sz="1600" dirty="0">
                <a:solidFill>
                  <a:schemeClr val="tx1"/>
                </a:solidFill>
              </a:rPr>
              <a:t>Health anxiety is positively associated with cyberchondria, most with distress and excessiveness</a:t>
            </a:r>
            <a:endParaRPr lang="en-US" sz="1600" dirty="0"/>
          </a:p>
        </p:txBody>
      </p:sp>
      <p:sp>
        <p:nvSpPr>
          <p:cNvPr id="10" name="marker H2"/>
          <p:cNvSpPr/>
          <p:nvPr/>
        </p:nvSpPr>
        <p:spPr>
          <a:xfrm>
            <a:off x="5166360" y="260604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516636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H2</a:t>
            </a:r>
            <a:endParaRPr lang="en-US" sz="1800" dirty="0"/>
          </a:p>
        </p:txBody>
      </p:sp>
      <p:sp>
        <p:nvSpPr>
          <p:cNvPr id="12" name="Text 9"/>
          <p:cNvSpPr txBox="1"/>
          <p:nvPr/>
        </p:nvSpPr>
        <p:spPr>
          <a:xfrm>
            <a:off x="5897880" y="2514600"/>
            <a:ext cx="5669280" cy="914400"/>
          </a:xfrm>
          <a:prstGeom prst="rect">
            <a:avLst/>
          </a:prstGeom>
          <a:noFill/>
          <a:ln/>
        </p:spPr>
        <p:txBody>
          <a:bodyPr wrap="square" lIns="0" tIns="0" rIns="0" bIns="0" rtlCol="0" anchor="ctr"/>
          <a:lstStyle/>
          <a:p>
            <a:pPr indent="0" marL="0">
              <a:buNone/>
            </a:pPr>
            <a:r>
              <a:rPr lang="en-US" sz="1600" dirty="0">
                <a:solidFill>
                  <a:schemeClr val="tx1"/>
                </a:solidFill>
              </a:rPr>
              <a:t>The association is independent of demographic and digital-use factors</a:t>
            </a:r>
            <a:endParaRPr lang="en-US" sz="1600" dirty="0"/>
          </a:p>
        </p:txBody>
      </p:sp>
      <p:sp>
        <p:nvSpPr>
          <p:cNvPr id="13" name="marker H3"/>
          <p:cNvSpPr/>
          <p:nvPr/>
        </p:nvSpPr>
        <p:spPr>
          <a:xfrm>
            <a:off x="5166360" y="3703320"/>
            <a:ext cx="502920" cy="502920"/>
          </a:xfrm>
          <a:prstGeom prst="ellipse">
            <a:avLst/>
          </a:prstGeom>
          <a:solidFill>
            <a:schemeClr val="accent1"/>
          </a:solidFill>
          <a:ln w="12700">
            <a:solidFill>
              <a:schemeClr val="accent1"/>
            </a:solidFill>
            <a:prstDash val="solid"/>
          </a:ln>
        </p:spPr>
      </p:sp>
      <p:sp>
        <p:nvSpPr>
          <p:cNvPr id="14" name="Text 11"/>
          <p:cNvSpPr txBox="1"/>
          <p:nvPr/>
        </p:nvSpPr>
        <p:spPr>
          <a:xfrm>
            <a:off x="516636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H3</a:t>
            </a:r>
            <a:endParaRPr lang="en-US" sz="1800" dirty="0"/>
          </a:p>
        </p:txBody>
      </p:sp>
      <p:sp>
        <p:nvSpPr>
          <p:cNvPr id="15" name="Text 12"/>
          <p:cNvSpPr txBox="1"/>
          <p:nvPr/>
        </p:nvSpPr>
        <p:spPr>
          <a:xfrm>
            <a:off x="5897880" y="3611880"/>
            <a:ext cx="5669280" cy="914400"/>
          </a:xfrm>
          <a:prstGeom prst="rect">
            <a:avLst/>
          </a:prstGeom>
          <a:noFill/>
          <a:ln/>
        </p:spPr>
        <p:txBody>
          <a:bodyPr wrap="square" lIns="0" tIns="0" rIns="0" bIns="0" rtlCol="0" anchor="ctr"/>
          <a:lstStyle/>
          <a:p>
            <a:pPr indent="0" marL="0">
              <a:buNone/>
            </a:pPr>
            <a:r>
              <a:rPr lang="en-US" sz="1600" dirty="0">
                <a:solidFill>
                  <a:schemeClr val="tx1"/>
                </a:solidFill>
              </a:rPr>
              <a:t>Excessive searching mediates the link between health anxiety and post-search distress</a:t>
            </a:r>
            <a:endParaRPr lang="en-US" sz="1600" dirty="0"/>
          </a:p>
        </p:txBody>
      </p:sp>
      <p:sp>
        <p:nvSpPr>
          <p:cNvPr id="16" name="marker H4"/>
          <p:cNvSpPr/>
          <p:nvPr/>
        </p:nvSpPr>
        <p:spPr>
          <a:xfrm>
            <a:off x="5166360" y="4800600"/>
            <a:ext cx="502920" cy="502920"/>
          </a:xfrm>
          <a:prstGeom prst="ellipse">
            <a:avLst/>
          </a:prstGeom>
          <a:solidFill>
            <a:schemeClr val="accent1"/>
          </a:solidFill>
          <a:ln w="12700">
            <a:solidFill>
              <a:schemeClr val="accent1"/>
            </a:solidFill>
            <a:prstDash val="solid"/>
          </a:ln>
        </p:spPr>
      </p:sp>
      <p:sp>
        <p:nvSpPr>
          <p:cNvPr id="17" name="Text 14"/>
          <p:cNvSpPr txBox="1"/>
          <p:nvPr/>
        </p:nvSpPr>
        <p:spPr>
          <a:xfrm>
            <a:off x="5166360" y="4800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H4</a:t>
            </a:r>
            <a:endParaRPr lang="en-US" sz="1800" dirty="0"/>
          </a:p>
        </p:txBody>
      </p:sp>
      <p:sp>
        <p:nvSpPr>
          <p:cNvPr id="18" name="Text 15"/>
          <p:cNvSpPr txBox="1"/>
          <p:nvPr/>
        </p:nvSpPr>
        <p:spPr>
          <a:xfrm>
            <a:off x="5897880" y="4709160"/>
            <a:ext cx="5669280" cy="914400"/>
          </a:xfrm>
          <a:prstGeom prst="rect">
            <a:avLst/>
          </a:prstGeom>
          <a:noFill/>
          <a:ln/>
        </p:spPr>
        <p:txBody>
          <a:bodyPr wrap="square" lIns="0" tIns="0" rIns="0" bIns="0" rtlCol="0" anchor="ctr"/>
          <a:lstStyle/>
          <a:p>
            <a:pPr indent="0" marL="0">
              <a:buNone/>
            </a:pPr>
            <a:r>
              <a:rPr lang="en-US" sz="1600" dirty="0">
                <a:solidFill>
                  <a:schemeClr val="tx1"/>
                </a:solidFill>
              </a:rPr>
              <a:t>Higher cyberchondria goes with care-seeking and a strained doctor relationship</a:t>
            </a:r>
            <a:endParaRPr lang="en-US" sz="16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28016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Methods</a:t>
            </a:r>
            <a:endParaRPr lang="en-US" sz="4000" dirty="0"/>
          </a:p>
        </p:txBody>
      </p:sp>
      <p:sp>
        <p:nvSpPr>
          <p:cNvPr id="3" name="Text 0"/>
          <p:cNvSpPr/>
          <p:nvPr>
            <p:ph idx="101" type="body" hasCustomPrompt="1"/>
          </p:nvPr>
        </p:nvSpPr>
        <p:spPr>
          <a:xfrm>
            <a:off x="548640" y="3657600"/>
            <a:ext cx="11094415" cy="914400"/>
          </a:xfrm>
          <a:prstGeom prst="rect">
            <a:avLst/>
          </a:prstGeom>
          <a:noFill/>
          <a:ln/>
        </p:spPr>
        <p:txBody>
          <a:bodyPr wrap="square" rtlCol="0"/>
          <a:lstStyle/>
          <a:p>
            <a:pPr indent="0" marL="0">
              <a:buNone/>
            </a:pPr>
            <a:r>
              <a:rPr lang="en-US" sz="1800" dirty="0">
                <a:solidFill>
                  <a:schemeClr val="bg2"/>
                </a:solidFill>
              </a:rPr>
              <a:t>Design, sample, instruments and analysis</a:t>
            </a:r>
            <a:endParaRPr lang="en-US" sz="18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we did it</a:t>
            </a:r>
            <a:endParaRPr lang="en-US" sz="3000" dirty="0"/>
          </a:p>
        </p:txBody>
      </p:sp>
      <p:sp>
        <p:nvSpPr>
          <p:cNvPr id="4" name="method Design"/>
          <p:cNvSpPr/>
          <p:nvPr/>
        </p:nvSpPr>
        <p:spPr>
          <a:xfrm>
            <a:off x="548640" y="1371600"/>
            <a:ext cx="3566160" cy="2057400"/>
          </a:xfrm>
          <a:prstGeom prst="roundRect">
            <a:avLst>
              <a:gd name="adj" fmla="val 3556"/>
            </a:avLst>
          </a:prstGeom>
          <a:solidFill>
            <a:schemeClr val="bg2"/>
          </a:solidFill>
          <a:ln w="12700">
            <a:solidFill>
              <a:schemeClr val="bg2"/>
            </a:solidFill>
            <a:prstDash val="solid"/>
          </a:ln>
        </p:spPr>
      </p:sp>
      <p:sp>
        <p:nvSpPr>
          <p:cNvPr id="5" name="Text 2"/>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Design</a:t>
            </a:r>
            <a:endParaRPr lang="en-US" sz="1800" dirty="0"/>
          </a:p>
        </p:txBody>
      </p:sp>
      <p:sp>
        <p:nvSpPr>
          <p:cNvPr id="6" name="Text 3"/>
          <p:cNvSpPr txBox="1"/>
          <p:nvPr/>
        </p:nvSpPr>
        <p:spPr>
          <a:xfrm>
            <a:off x="82296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Analytical cross-sectional online survey (STROBE, CHERRIES)</a:t>
            </a:r>
            <a:endParaRPr lang="en-US" sz="1500" dirty="0"/>
          </a:p>
        </p:txBody>
      </p:sp>
      <p:sp>
        <p:nvSpPr>
          <p:cNvPr id="7" name="method Setting &amp; time"/>
          <p:cNvSpPr/>
          <p:nvPr/>
        </p:nvSpPr>
        <p:spPr>
          <a:xfrm>
            <a:off x="4297680" y="1371600"/>
            <a:ext cx="3566160" cy="2057400"/>
          </a:xfrm>
          <a:prstGeom prst="roundRect">
            <a:avLst>
              <a:gd name="adj" fmla="val 3556"/>
            </a:avLst>
          </a:prstGeom>
          <a:solidFill>
            <a:schemeClr val="bg2"/>
          </a:solidFill>
          <a:ln w="12700">
            <a:solidFill>
              <a:schemeClr val="bg2"/>
            </a:solidFill>
            <a:prstDash val="solid"/>
          </a:ln>
        </p:spPr>
      </p:sp>
      <p:sp>
        <p:nvSpPr>
          <p:cNvPr id="8" name="Text 5"/>
          <p:cNvSpPr txBox="1"/>
          <p:nvPr/>
        </p:nvSpPr>
        <p:spPr>
          <a:xfrm>
            <a:off x="457200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Setting &amp; time</a:t>
            </a:r>
            <a:endParaRPr lang="en-US" sz="1800" dirty="0"/>
          </a:p>
        </p:txBody>
      </p:sp>
      <p:sp>
        <p:nvSpPr>
          <p:cNvPr id="9" name="Text 6"/>
          <p:cNvSpPr txBox="1"/>
          <p:nvPr/>
        </p:nvSpPr>
        <p:spPr>
          <a:xfrm>
            <a:off x="457200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Baghdad · 17 July 2026 – 11 September 2026</a:t>
            </a:r>
            <a:endParaRPr lang="en-US" sz="1500" dirty="0"/>
          </a:p>
        </p:txBody>
      </p:sp>
      <p:sp>
        <p:nvSpPr>
          <p:cNvPr id="10" name="method Sample"/>
          <p:cNvSpPr/>
          <p:nvPr/>
        </p:nvSpPr>
        <p:spPr>
          <a:xfrm>
            <a:off x="8046720" y="1371600"/>
            <a:ext cx="3566160" cy="2057400"/>
          </a:xfrm>
          <a:prstGeom prst="roundRect">
            <a:avLst>
              <a:gd name="adj" fmla="val 3556"/>
            </a:avLst>
          </a:prstGeom>
          <a:solidFill>
            <a:schemeClr val="bg2"/>
          </a:solidFill>
          <a:ln w="12700">
            <a:solidFill>
              <a:schemeClr val="bg2"/>
            </a:solidFill>
            <a:prstDash val="solid"/>
          </a:ln>
        </p:spPr>
      </p:sp>
      <p:sp>
        <p:nvSpPr>
          <p:cNvPr id="11" name="Text 8"/>
          <p:cNvSpPr txBox="1"/>
          <p:nvPr/>
        </p:nvSpPr>
        <p:spPr>
          <a:xfrm>
            <a:off x="832104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Sample</a:t>
            </a:r>
            <a:endParaRPr lang="en-US" sz="1800" dirty="0"/>
          </a:p>
        </p:txBody>
      </p:sp>
      <p:sp>
        <p:nvSpPr>
          <p:cNvPr id="12" name="Text 9"/>
          <p:cNvSpPr txBox="1"/>
          <p:nvPr/>
        </p:nvSpPr>
        <p:spPr>
          <a:xfrm>
            <a:off x="832104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n = 300, convenience + snowball; a priori 194 needed to detect r = 0.20</a:t>
            </a:r>
            <a:endParaRPr lang="en-US" sz="1500" dirty="0"/>
          </a:p>
        </p:txBody>
      </p:sp>
      <p:sp>
        <p:nvSpPr>
          <p:cNvPr id="13" name="method Instruments"/>
          <p:cNvSpPr/>
          <p:nvPr/>
        </p:nvSpPr>
        <p:spPr>
          <a:xfrm>
            <a:off x="548640" y="3611880"/>
            <a:ext cx="3566160" cy="2057400"/>
          </a:xfrm>
          <a:prstGeom prst="roundRect">
            <a:avLst>
              <a:gd name="adj" fmla="val 3556"/>
            </a:avLst>
          </a:prstGeom>
          <a:solidFill>
            <a:schemeClr val="bg2"/>
          </a:solidFill>
          <a:ln w="12700">
            <a:solidFill>
              <a:schemeClr val="bg2"/>
            </a:solidFill>
            <a:prstDash val="solid"/>
          </a:ln>
        </p:spPr>
      </p:sp>
      <p:sp>
        <p:nvSpPr>
          <p:cNvPr id="14" name="Text 11"/>
          <p:cNvSpPr txBox="1"/>
          <p:nvPr/>
        </p:nvSpPr>
        <p:spPr>
          <a:xfrm>
            <a:off x="822960" y="384048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Instruments</a:t>
            </a:r>
            <a:endParaRPr lang="en-US" sz="1800" dirty="0"/>
          </a:p>
        </p:txBody>
      </p:sp>
      <p:sp>
        <p:nvSpPr>
          <p:cNvPr id="15" name="Text 12"/>
          <p:cNvSpPr txBox="1"/>
          <p:nvPr/>
        </p:nvSpPr>
        <p:spPr>
          <a:xfrm>
            <a:off x="82296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Bilingual Google Form · SHAI-14 (health anxiety) · CSS-12 (cyberchondria, 4 subscales)</a:t>
            </a:r>
            <a:endParaRPr lang="en-US" sz="1500" dirty="0"/>
          </a:p>
        </p:txBody>
      </p:sp>
      <p:sp>
        <p:nvSpPr>
          <p:cNvPr id="16" name="method Analysis"/>
          <p:cNvSpPr/>
          <p:nvPr/>
        </p:nvSpPr>
        <p:spPr>
          <a:xfrm>
            <a:off x="4297680" y="3611880"/>
            <a:ext cx="3566160" cy="2057400"/>
          </a:xfrm>
          <a:prstGeom prst="roundRect">
            <a:avLst>
              <a:gd name="adj" fmla="val 3556"/>
            </a:avLst>
          </a:prstGeom>
          <a:solidFill>
            <a:schemeClr val="bg2"/>
          </a:solidFill>
          <a:ln w="12700">
            <a:solidFill>
              <a:schemeClr val="bg2"/>
            </a:solidFill>
            <a:prstDash val="solid"/>
          </a:ln>
        </p:spPr>
      </p:sp>
      <p:sp>
        <p:nvSpPr>
          <p:cNvPr id="17" name="Text 14"/>
          <p:cNvSpPr txBox="1"/>
          <p:nvPr/>
        </p:nvSpPr>
        <p:spPr>
          <a:xfrm>
            <a:off x="4572000" y="384048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Analysis</a:t>
            </a:r>
            <a:endParaRPr lang="en-US" sz="1800" dirty="0"/>
          </a:p>
        </p:txBody>
      </p:sp>
      <p:sp>
        <p:nvSpPr>
          <p:cNvPr id="18" name="Text 15"/>
          <p:cNvSpPr txBox="1"/>
          <p:nvPr/>
        </p:nvSpPr>
        <p:spPr>
          <a:xfrm>
            <a:off x="457200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Reliability &amp; CFA · correlations · FDR-corrected tests · robust and logistic regression · bootstrapped mediation</a:t>
            </a:r>
            <a:endParaRPr lang="en-US" sz="1500" dirty="0"/>
          </a:p>
        </p:txBody>
      </p:sp>
      <p:sp>
        <p:nvSpPr>
          <p:cNvPr id="19" name="method Ethics"/>
          <p:cNvSpPr/>
          <p:nvPr/>
        </p:nvSpPr>
        <p:spPr>
          <a:xfrm>
            <a:off x="8046720" y="3611880"/>
            <a:ext cx="3566160" cy="2057400"/>
          </a:xfrm>
          <a:prstGeom prst="roundRect">
            <a:avLst>
              <a:gd name="adj" fmla="val 3556"/>
            </a:avLst>
          </a:prstGeom>
          <a:solidFill>
            <a:schemeClr val="bg2"/>
          </a:solidFill>
          <a:ln w="12700">
            <a:solidFill>
              <a:schemeClr val="bg2"/>
            </a:solidFill>
            <a:prstDash val="solid"/>
          </a:ln>
        </p:spPr>
      </p:sp>
      <p:sp>
        <p:nvSpPr>
          <p:cNvPr id="20" name="Text 17"/>
          <p:cNvSpPr txBox="1"/>
          <p:nvPr/>
        </p:nvSpPr>
        <p:spPr>
          <a:xfrm>
            <a:off x="8321040" y="384048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Ethics</a:t>
            </a:r>
            <a:endParaRPr lang="en-US" sz="1800" dirty="0"/>
          </a:p>
        </p:txBody>
      </p:sp>
      <p:sp>
        <p:nvSpPr>
          <p:cNvPr id="21" name="Text 18"/>
          <p:cNvSpPr txBox="1"/>
          <p:nvPr/>
        </p:nvSpPr>
        <p:spPr>
          <a:xfrm>
            <a:off x="832104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Anonymous, voluntary, e-consent before any question · [approval no.]</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28016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Results</a:t>
            </a:r>
            <a:endParaRPr lang="en-US" sz="4000" dirty="0"/>
          </a:p>
        </p:txBody>
      </p:sp>
      <p:sp>
        <p:nvSpPr>
          <p:cNvPr id="3" name="Text 0"/>
          <p:cNvSpPr/>
          <p:nvPr>
            <p:ph idx="101" type="body" hasCustomPrompt="1"/>
          </p:nvPr>
        </p:nvSpPr>
        <p:spPr>
          <a:xfrm>
            <a:off x="548640" y="3657600"/>
            <a:ext cx="11094415" cy="914400"/>
          </a:xfrm>
          <a:prstGeom prst="rect">
            <a:avLst/>
          </a:prstGeom>
          <a:noFill/>
          <a:ln/>
        </p:spPr>
        <p:txBody>
          <a:bodyPr wrap="square" rtlCol="0"/>
          <a:lstStyle/>
          <a:p>
            <a:pPr indent="0" marL="0">
              <a:buNone/>
            </a:pPr>
            <a:r>
              <a:rPr lang="en-US" sz="1800" dirty="0">
                <a:solidFill>
                  <a:schemeClr val="bg2"/>
                </a:solidFill>
              </a:rPr>
              <a:t>What we found</a:t>
            </a:r>
            <a:endParaRPr lang="en-US" sz="1800" dirty="0"/>
          </a:p>
        </p:txBody>
      </p:sp>
      <p:sp>
        <p:nvSpPr>
          <p:cNvPr id="25" name="Slide Number Placeholder 0"/>
          <p:cNvSpPr>
            <a:spLocks noGrp="1"/>
          </p:cNvSpPr>
          <p:nvPr>
            <p:ph type="sldNum" sz="quarter" idx="4294967295"/>
          </p:nvPr>
        </p:nvSpPr>
        <p:spPr>
          <a:xfrm>
            <a:off x="1127729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Participants: young, mostly students</a:t>
            </a:r>
            <a:endParaRPr lang="en-US" sz="3000" dirty="0"/>
          </a:p>
        </p:txBody>
      </p:sp>
      <p:sp>
        <p:nvSpPr>
          <p:cNvPr id="4" name="stat participants"/>
          <p:cNvSpPr/>
          <p:nvPr/>
        </p:nvSpPr>
        <p:spPr>
          <a:xfrm>
            <a:off x="548640" y="1828800"/>
            <a:ext cx="2066544" cy="1600200"/>
          </a:xfrm>
          <a:prstGeom prst="roundRect">
            <a:avLst>
              <a:gd name="adj" fmla="val 4571"/>
            </a:avLst>
          </a:prstGeom>
          <a:solidFill>
            <a:schemeClr val="bg2"/>
          </a:solidFill>
          <a:ln w="12700">
            <a:solidFill>
              <a:schemeClr val="bg2"/>
            </a:solidFill>
            <a:prstDash val="solid"/>
          </a:ln>
        </p:spPr>
      </p:sp>
      <p:sp>
        <p:nvSpPr>
          <p:cNvPr id="5" name="Text 2"/>
          <p:cNvSpPr txBox="1"/>
          <p:nvPr/>
        </p:nvSpPr>
        <p:spPr>
          <a:xfrm>
            <a:off x="777240" y="2011680"/>
            <a:ext cx="1609344"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300</a:t>
            </a:r>
            <a:endParaRPr lang="en-US" sz="4000" dirty="0"/>
          </a:p>
        </p:txBody>
      </p:sp>
      <p:sp>
        <p:nvSpPr>
          <p:cNvPr id="6" name="Text 3"/>
          <p:cNvSpPr txBox="1"/>
          <p:nvPr/>
        </p:nvSpPr>
        <p:spPr>
          <a:xfrm>
            <a:off x="777240" y="2788920"/>
            <a:ext cx="1609344" cy="548640"/>
          </a:xfrm>
          <a:prstGeom prst="rect">
            <a:avLst/>
          </a:prstGeom>
          <a:noFill/>
          <a:ln/>
        </p:spPr>
        <p:txBody>
          <a:bodyPr wrap="square" lIns="0" tIns="0" rIns="0" bIns="0" rtlCol="0" anchor="t"/>
          <a:lstStyle/>
          <a:p>
            <a:pPr indent="0" marL="0">
              <a:buNone/>
            </a:pPr>
            <a:r>
              <a:rPr lang="en-US" sz="1400" dirty="0">
                <a:solidFill>
                  <a:schemeClr val="tx1"/>
                </a:solidFill>
              </a:rPr>
              <a:t>participants</a:t>
            </a:r>
            <a:endParaRPr lang="en-US" sz="1400" dirty="0"/>
          </a:p>
        </p:txBody>
      </p:sp>
      <p:sp>
        <p:nvSpPr>
          <p:cNvPr id="7" name="stat aged 20–29"/>
          <p:cNvSpPr/>
          <p:nvPr/>
        </p:nvSpPr>
        <p:spPr>
          <a:xfrm>
            <a:off x="2798064" y="1828800"/>
            <a:ext cx="2066544" cy="1600200"/>
          </a:xfrm>
          <a:prstGeom prst="roundRect">
            <a:avLst>
              <a:gd name="adj" fmla="val 4571"/>
            </a:avLst>
          </a:prstGeom>
          <a:solidFill>
            <a:schemeClr val="bg2"/>
          </a:solidFill>
          <a:ln w="12700">
            <a:solidFill>
              <a:schemeClr val="bg2"/>
            </a:solidFill>
            <a:prstDash val="solid"/>
          </a:ln>
        </p:spPr>
      </p:sp>
      <p:sp>
        <p:nvSpPr>
          <p:cNvPr id="8" name="Text 5"/>
          <p:cNvSpPr txBox="1"/>
          <p:nvPr/>
        </p:nvSpPr>
        <p:spPr>
          <a:xfrm>
            <a:off x="3026664" y="2011680"/>
            <a:ext cx="1609344"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62.3%</a:t>
            </a:r>
            <a:endParaRPr lang="en-US" sz="4000" dirty="0"/>
          </a:p>
        </p:txBody>
      </p:sp>
      <p:sp>
        <p:nvSpPr>
          <p:cNvPr id="9" name="Text 6"/>
          <p:cNvSpPr txBox="1"/>
          <p:nvPr/>
        </p:nvSpPr>
        <p:spPr>
          <a:xfrm>
            <a:off x="3026664" y="2788920"/>
            <a:ext cx="1609344" cy="548640"/>
          </a:xfrm>
          <a:prstGeom prst="rect">
            <a:avLst/>
          </a:prstGeom>
          <a:noFill/>
          <a:ln/>
        </p:spPr>
        <p:txBody>
          <a:bodyPr wrap="square" lIns="0" tIns="0" rIns="0" bIns="0" rtlCol="0" anchor="t"/>
          <a:lstStyle/>
          <a:p>
            <a:pPr indent="0" marL="0">
              <a:buNone/>
            </a:pPr>
            <a:r>
              <a:rPr lang="en-US" sz="1400" dirty="0">
                <a:solidFill>
                  <a:schemeClr val="tx1"/>
                </a:solidFill>
              </a:rPr>
              <a:t>aged 20–29</a:t>
            </a:r>
            <a:endParaRPr lang="en-US" sz="1400" dirty="0"/>
          </a:p>
        </p:txBody>
      </p:sp>
      <p:sp>
        <p:nvSpPr>
          <p:cNvPr id="10" name="stat female"/>
          <p:cNvSpPr/>
          <p:nvPr/>
        </p:nvSpPr>
        <p:spPr>
          <a:xfrm>
            <a:off x="5047488" y="1828800"/>
            <a:ext cx="2066544" cy="1600200"/>
          </a:xfrm>
          <a:prstGeom prst="roundRect">
            <a:avLst>
              <a:gd name="adj" fmla="val 4571"/>
            </a:avLst>
          </a:prstGeom>
          <a:solidFill>
            <a:schemeClr val="bg2"/>
          </a:solidFill>
          <a:ln w="12700">
            <a:solidFill>
              <a:schemeClr val="bg2"/>
            </a:solidFill>
            <a:prstDash val="solid"/>
          </a:ln>
        </p:spPr>
      </p:sp>
      <p:sp>
        <p:nvSpPr>
          <p:cNvPr id="11" name="Text 8"/>
          <p:cNvSpPr txBox="1"/>
          <p:nvPr/>
        </p:nvSpPr>
        <p:spPr>
          <a:xfrm>
            <a:off x="5276088" y="2011680"/>
            <a:ext cx="1609344"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56.3%</a:t>
            </a:r>
            <a:endParaRPr lang="en-US" sz="4000" dirty="0"/>
          </a:p>
        </p:txBody>
      </p:sp>
      <p:sp>
        <p:nvSpPr>
          <p:cNvPr id="12" name="Text 9"/>
          <p:cNvSpPr txBox="1"/>
          <p:nvPr/>
        </p:nvSpPr>
        <p:spPr>
          <a:xfrm>
            <a:off x="5276088" y="2788920"/>
            <a:ext cx="1609344" cy="548640"/>
          </a:xfrm>
          <a:prstGeom prst="rect">
            <a:avLst/>
          </a:prstGeom>
          <a:noFill/>
          <a:ln/>
        </p:spPr>
        <p:txBody>
          <a:bodyPr wrap="square" lIns="0" tIns="0" rIns="0" bIns="0" rtlCol="0" anchor="t"/>
          <a:lstStyle/>
          <a:p>
            <a:pPr indent="0" marL="0">
              <a:buNone/>
            </a:pPr>
            <a:r>
              <a:rPr lang="en-US" sz="1400" dirty="0">
                <a:solidFill>
                  <a:schemeClr val="tx1"/>
                </a:solidFill>
              </a:rPr>
              <a:t>female</a:t>
            </a:r>
            <a:endParaRPr lang="en-US" sz="1400" dirty="0"/>
          </a:p>
        </p:txBody>
      </p:sp>
      <p:sp>
        <p:nvSpPr>
          <p:cNvPr id="13" name="stat medical students"/>
          <p:cNvSpPr/>
          <p:nvPr/>
        </p:nvSpPr>
        <p:spPr>
          <a:xfrm>
            <a:off x="7296912" y="1828800"/>
            <a:ext cx="2066544" cy="1600200"/>
          </a:xfrm>
          <a:prstGeom prst="roundRect">
            <a:avLst>
              <a:gd name="adj" fmla="val 4571"/>
            </a:avLst>
          </a:prstGeom>
          <a:solidFill>
            <a:schemeClr val="bg2"/>
          </a:solidFill>
          <a:ln w="12700">
            <a:solidFill>
              <a:schemeClr val="bg2"/>
            </a:solidFill>
            <a:prstDash val="solid"/>
          </a:ln>
        </p:spPr>
      </p:sp>
      <p:sp>
        <p:nvSpPr>
          <p:cNvPr id="14" name="Text 11"/>
          <p:cNvSpPr txBox="1"/>
          <p:nvPr/>
        </p:nvSpPr>
        <p:spPr>
          <a:xfrm>
            <a:off x="7525512" y="2011680"/>
            <a:ext cx="1609344"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44.0%</a:t>
            </a:r>
            <a:endParaRPr lang="en-US" sz="4000" dirty="0"/>
          </a:p>
        </p:txBody>
      </p:sp>
      <p:sp>
        <p:nvSpPr>
          <p:cNvPr id="15" name="Text 12"/>
          <p:cNvSpPr txBox="1"/>
          <p:nvPr/>
        </p:nvSpPr>
        <p:spPr>
          <a:xfrm>
            <a:off x="7525512" y="2788920"/>
            <a:ext cx="1609344" cy="548640"/>
          </a:xfrm>
          <a:prstGeom prst="rect">
            <a:avLst/>
          </a:prstGeom>
          <a:noFill/>
          <a:ln/>
        </p:spPr>
        <p:txBody>
          <a:bodyPr wrap="square" lIns="0" tIns="0" rIns="0" bIns="0" rtlCol="0" anchor="t"/>
          <a:lstStyle/>
          <a:p>
            <a:pPr indent="0" marL="0">
              <a:buNone/>
            </a:pPr>
            <a:r>
              <a:rPr lang="en-US" sz="1400" dirty="0">
                <a:solidFill>
                  <a:schemeClr val="tx1"/>
                </a:solidFill>
              </a:rPr>
              <a:t>medical students</a:t>
            </a:r>
            <a:endParaRPr lang="en-US" sz="1400" dirty="0"/>
          </a:p>
        </p:txBody>
      </p:sp>
      <p:sp>
        <p:nvSpPr>
          <p:cNvPr id="16" name="stat chronic condition"/>
          <p:cNvSpPr/>
          <p:nvPr/>
        </p:nvSpPr>
        <p:spPr>
          <a:xfrm>
            <a:off x="9546336" y="1828800"/>
            <a:ext cx="2066544" cy="1600200"/>
          </a:xfrm>
          <a:prstGeom prst="roundRect">
            <a:avLst>
              <a:gd name="adj" fmla="val 4571"/>
            </a:avLst>
          </a:prstGeom>
          <a:solidFill>
            <a:schemeClr val="bg2"/>
          </a:solidFill>
          <a:ln w="12700">
            <a:solidFill>
              <a:schemeClr val="bg2"/>
            </a:solidFill>
            <a:prstDash val="solid"/>
          </a:ln>
        </p:spPr>
      </p:sp>
      <p:sp>
        <p:nvSpPr>
          <p:cNvPr id="17" name="Text 14"/>
          <p:cNvSpPr txBox="1"/>
          <p:nvPr/>
        </p:nvSpPr>
        <p:spPr>
          <a:xfrm>
            <a:off x="9774936" y="2011680"/>
            <a:ext cx="1609344"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21.7%</a:t>
            </a:r>
            <a:endParaRPr lang="en-US" sz="4000" dirty="0"/>
          </a:p>
        </p:txBody>
      </p:sp>
      <p:sp>
        <p:nvSpPr>
          <p:cNvPr id="18" name="Text 15"/>
          <p:cNvSpPr txBox="1"/>
          <p:nvPr/>
        </p:nvSpPr>
        <p:spPr>
          <a:xfrm>
            <a:off x="9774936" y="2788920"/>
            <a:ext cx="1609344" cy="548640"/>
          </a:xfrm>
          <a:prstGeom prst="rect">
            <a:avLst/>
          </a:prstGeom>
          <a:noFill/>
          <a:ln/>
        </p:spPr>
        <p:txBody>
          <a:bodyPr wrap="square" lIns="0" tIns="0" rIns="0" bIns="0" rtlCol="0" anchor="t"/>
          <a:lstStyle/>
          <a:p>
            <a:pPr indent="0" marL="0">
              <a:buNone/>
            </a:pPr>
            <a:r>
              <a:rPr lang="en-US" sz="1400" dirty="0">
                <a:solidFill>
                  <a:schemeClr val="tx1"/>
                </a:solidFill>
              </a:rPr>
              <a:t>chronic condition</a:t>
            </a:r>
            <a:endParaRPr lang="en-US" sz="1400" dirty="0"/>
          </a:p>
        </p:txBody>
      </p:sp>
      <p:sp>
        <p:nvSpPr>
          <p:cNvPr id="19" name="Text 16"/>
          <p:cNvSpPr txBox="1"/>
          <p:nvPr/>
        </p:nvSpPr>
        <p:spPr>
          <a:xfrm>
            <a:off x="548640" y="3840480"/>
            <a:ext cx="10972800" cy="457200"/>
          </a:xfrm>
          <a:prstGeom prst="rect">
            <a:avLst/>
          </a:prstGeom>
          <a:noFill/>
          <a:ln/>
        </p:spPr>
        <p:txBody>
          <a:bodyPr wrap="square" lIns="0" tIns="0" rIns="0" bIns="0" rtlCol="0" anchor="t"/>
          <a:lstStyle/>
          <a:p>
            <a:pPr indent="0" marL="0">
              <a:buNone/>
            </a:pPr>
            <a:r>
              <a:rPr lang="en-US" sz="1600" dirty="0">
                <a:solidFill>
                  <a:srgbClr val="52514E"/>
                </a:solidFill>
              </a:rPr>
              <a:t>Health-related background: 63.3% · Answered mainly in Arabic: 70.7%</a:t>
            </a:r>
            <a:endParaRPr lang="en-US" sz="1600" dirty="0"/>
          </a:p>
        </p:txBody>
      </p:sp>
      <p:sp>
        <p:nvSpPr>
          <p:cNvPr id="20" name="caveat sample"/>
          <p:cNvSpPr/>
          <p:nvPr/>
        </p:nvSpPr>
        <p:spPr>
          <a:xfrm>
            <a:off x="548640" y="4526280"/>
            <a:ext cx="11064240" cy="1188720"/>
          </a:xfrm>
          <a:prstGeom prst="roundRect">
            <a:avLst>
              <a:gd name="adj" fmla="val 6154"/>
            </a:avLst>
          </a:prstGeom>
          <a:solidFill>
            <a:srgbClr val="FDEEE7"/>
          </a:solidFill>
          <a:ln w="12700">
            <a:solidFill>
              <a:srgbClr val="FDEEE7"/>
            </a:solidFill>
            <a:prstDash val="solid"/>
          </a:ln>
        </p:spPr>
      </p:sp>
      <p:sp>
        <p:nvSpPr>
          <p:cNvPr id="21" name="Text 18"/>
          <p:cNvSpPr txBox="1"/>
          <p:nvPr/>
        </p:nvSpPr>
        <p:spPr>
          <a:xfrm>
            <a:off x="822960" y="4663440"/>
            <a:ext cx="10515600" cy="914400"/>
          </a:xfrm>
          <a:prstGeom prst="rect">
            <a:avLst/>
          </a:prstGeom>
          <a:noFill/>
          <a:ln/>
        </p:spPr>
        <p:txBody>
          <a:bodyPr wrap="square" lIns="0" tIns="0" rIns="0" bIns="0" rtlCol="0" anchor="ctr"/>
          <a:lstStyle/>
          <a:p>
            <a:pPr indent="0" marL="0">
              <a:buNone/>
            </a:pPr>
            <a:r>
              <a:rPr lang="en-US" sz="1600" dirty="0">
                <a:solidFill>
                  <a:schemeClr val="tx1"/>
                </a:solidFill>
              </a:rPr>
              <a:t>Interpret percentages with care: the sample over-represents young people and medical students. Associations, however, were consistent across every subgroup.</a:t>
            </a:r>
            <a:endParaRPr lang="en-US" sz="16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AI chatbots are now the main gateway</a:t>
            </a:r>
            <a:endParaRPr lang="en-US" sz="3000" dirty="0"/>
          </a:p>
        </p:txBody>
      </p:sp>
      <p:graphicFrame>
        <p:nvGraphicFramePr>
          <p:cNvPr id="4" name="Chart 0" descr=""/>
          <p:cNvGraphicFramePr/>
          <p:nvPr/>
        </p:nvGraphicFramePr>
        <p:xfrm>
          <a:off x="548640" y="1280160"/>
          <a:ext cx="53949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28016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500" i="1" dirty="0">
                <a:solidFill>
                  <a:srgbClr val="52514E"/>
                </a:solidFill>
              </a:rPr>
              <a:t>ChatGPT is the main chatbot for 59.3% of all participants · 41.0% use AI without any search engine</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One in five has elevated health anxiety</a:t>
            </a:r>
            <a:endParaRPr lang="en-US" sz="3000" dirty="0"/>
          </a:p>
        </p:txBody>
      </p:sp>
      <p:sp>
        <p:nvSpPr>
          <p:cNvPr id="4" name="stat mean SHAI-14 (0–42)"/>
          <p:cNvSpPr/>
          <p:nvPr/>
        </p:nvSpPr>
        <p:spPr>
          <a:xfrm>
            <a:off x="548640" y="1463040"/>
            <a:ext cx="2606040" cy="1600200"/>
          </a:xfrm>
          <a:prstGeom prst="roundRect">
            <a:avLst>
              <a:gd name="adj" fmla="val 4571"/>
            </a:avLst>
          </a:prstGeom>
          <a:solidFill>
            <a:schemeClr val="bg2"/>
          </a:solidFill>
          <a:ln w="12700">
            <a:solidFill>
              <a:schemeClr val="bg2"/>
            </a:solidFill>
            <a:prstDash val="solid"/>
          </a:ln>
        </p:spPr>
      </p:sp>
      <p:sp>
        <p:nvSpPr>
          <p:cNvPr id="5" name="Text 2"/>
          <p:cNvSpPr txBox="1"/>
          <p:nvPr/>
        </p:nvSpPr>
        <p:spPr>
          <a:xfrm>
            <a:off x="777240" y="1645920"/>
            <a:ext cx="21488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12.3</a:t>
            </a:r>
            <a:endParaRPr lang="en-US" sz="4000" dirty="0"/>
          </a:p>
        </p:txBody>
      </p:sp>
      <p:sp>
        <p:nvSpPr>
          <p:cNvPr id="6" name="Text 3"/>
          <p:cNvSpPr txBox="1"/>
          <p:nvPr/>
        </p:nvSpPr>
        <p:spPr>
          <a:xfrm>
            <a:off x="777240" y="2423160"/>
            <a:ext cx="2148840" cy="548640"/>
          </a:xfrm>
          <a:prstGeom prst="rect">
            <a:avLst/>
          </a:prstGeom>
          <a:noFill/>
          <a:ln/>
        </p:spPr>
        <p:txBody>
          <a:bodyPr wrap="square" lIns="0" tIns="0" rIns="0" bIns="0" rtlCol="0" anchor="t"/>
          <a:lstStyle/>
          <a:p>
            <a:pPr indent="0" marL="0">
              <a:buNone/>
            </a:pPr>
            <a:r>
              <a:rPr lang="en-US" sz="1400" dirty="0">
                <a:solidFill>
                  <a:schemeClr val="tx1"/>
                </a:solidFill>
              </a:rPr>
              <a:t>mean SHAI-14 (0–42)</a:t>
            </a:r>
            <a:endParaRPr lang="en-US" sz="1400" dirty="0"/>
          </a:p>
        </p:txBody>
      </p:sp>
      <p:sp>
        <p:nvSpPr>
          <p:cNvPr id="7" name="stat elevated (SHAI ≥ 18)"/>
          <p:cNvSpPr/>
          <p:nvPr/>
        </p:nvSpPr>
        <p:spPr>
          <a:xfrm>
            <a:off x="3355848" y="1463040"/>
            <a:ext cx="2606040" cy="1600200"/>
          </a:xfrm>
          <a:prstGeom prst="roundRect">
            <a:avLst>
              <a:gd name="adj" fmla="val 4571"/>
            </a:avLst>
          </a:prstGeom>
          <a:solidFill>
            <a:schemeClr val="bg2"/>
          </a:solidFill>
          <a:ln w="12700">
            <a:solidFill>
              <a:schemeClr val="bg2"/>
            </a:solidFill>
            <a:prstDash val="solid"/>
          </a:ln>
        </p:spPr>
      </p:sp>
      <p:sp>
        <p:nvSpPr>
          <p:cNvPr id="8" name="Text 5"/>
          <p:cNvSpPr txBox="1"/>
          <p:nvPr/>
        </p:nvSpPr>
        <p:spPr>
          <a:xfrm>
            <a:off x="3584448" y="1645920"/>
            <a:ext cx="214884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19%</a:t>
            </a:r>
            <a:endParaRPr lang="en-US" sz="4000" dirty="0"/>
          </a:p>
        </p:txBody>
      </p:sp>
      <p:sp>
        <p:nvSpPr>
          <p:cNvPr id="9" name="Text 6"/>
          <p:cNvSpPr txBox="1"/>
          <p:nvPr/>
        </p:nvSpPr>
        <p:spPr>
          <a:xfrm>
            <a:off x="3584448" y="2423160"/>
            <a:ext cx="2148840" cy="548640"/>
          </a:xfrm>
          <a:prstGeom prst="rect">
            <a:avLst/>
          </a:prstGeom>
          <a:noFill/>
          <a:ln/>
        </p:spPr>
        <p:txBody>
          <a:bodyPr wrap="square" lIns="0" tIns="0" rIns="0" bIns="0" rtlCol="0" anchor="t"/>
          <a:lstStyle/>
          <a:p>
            <a:pPr indent="0" marL="0">
              <a:buNone/>
            </a:pPr>
            <a:r>
              <a:rPr lang="en-US" sz="1400" dirty="0">
                <a:solidFill>
                  <a:schemeClr val="tx1"/>
                </a:solidFill>
              </a:rPr>
              <a:t>elevated (SHAI ≥ 18)</a:t>
            </a:r>
            <a:endParaRPr lang="en-US" sz="1400" dirty="0"/>
          </a:p>
        </p:txBody>
      </p:sp>
      <p:sp>
        <p:nvSpPr>
          <p:cNvPr id="10" name="stat mean CSS-12 (12–60)"/>
          <p:cNvSpPr/>
          <p:nvPr/>
        </p:nvSpPr>
        <p:spPr>
          <a:xfrm>
            <a:off x="6163056" y="1463040"/>
            <a:ext cx="2606040" cy="1600200"/>
          </a:xfrm>
          <a:prstGeom prst="roundRect">
            <a:avLst>
              <a:gd name="adj" fmla="val 4571"/>
            </a:avLst>
          </a:prstGeom>
          <a:solidFill>
            <a:schemeClr val="bg2"/>
          </a:solidFill>
          <a:ln w="12700">
            <a:solidFill>
              <a:schemeClr val="bg2"/>
            </a:solidFill>
            <a:prstDash val="solid"/>
          </a:ln>
        </p:spPr>
      </p:sp>
      <p:sp>
        <p:nvSpPr>
          <p:cNvPr id="11" name="Text 8"/>
          <p:cNvSpPr txBox="1"/>
          <p:nvPr/>
        </p:nvSpPr>
        <p:spPr>
          <a:xfrm>
            <a:off x="6391656" y="1645920"/>
            <a:ext cx="21488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28.9</a:t>
            </a:r>
            <a:endParaRPr lang="en-US" sz="4000" dirty="0"/>
          </a:p>
        </p:txBody>
      </p:sp>
      <p:sp>
        <p:nvSpPr>
          <p:cNvPr id="12" name="Text 9"/>
          <p:cNvSpPr txBox="1"/>
          <p:nvPr/>
        </p:nvSpPr>
        <p:spPr>
          <a:xfrm>
            <a:off x="6391656" y="2423160"/>
            <a:ext cx="2148840" cy="548640"/>
          </a:xfrm>
          <a:prstGeom prst="rect">
            <a:avLst/>
          </a:prstGeom>
          <a:noFill/>
          <a:ln/>
        </p:spPr>
        <p:txBody>
          <a:bodyPr wrap="square" lIns="0" tIns="0" rIns="0" bIns="0" rtlCol="0" anchor="t"/>
          <a:lstStyle/>
          <a:p>
            <a:pPr indent="0" marL="0">
              <a:buNone/>
            </a:pPr>
            <a:r>
              <a:rPr lang="en-US" sz="1400" dirty="0">
                <a:solidFill>
                  <a:schemeClr val="tx1"/>
                </a:solidFill>
              </a:rPr>
              <a:t>mean CSS-12 (12–60)</a:t>
            </a:r>
            <a:endParaRPr lang="en-US" sz="1400" dirty="0"/>
          </a:p>
        </p:txBody>
      </p:sp>
      <p:sp>
        <p:nvSpPr>
          <p:cNvPr id="13" name="stat reliability α (SHAI / CSS)"/>
          <p:cNvSpPr/>
          <p:nvPr/>
        </p:nvSpPr>
        <p:spPr>
          <a:xfrm>
            <a:off x="8970264" y="1463040"/>
            <a:ext cx="2606040" cy="1600200"/>
          </a:xfrm>
          <a:prstGeom prst="roundRect">
            <a:avLst>
              <a:gd name="adj" fmla="val 4571"/>
            </a:avLst>
          </a:prstGeom>
          <a:solidFill>
            <a:schemeClr val="bg2"/>
          </a:solidFill>
          <a:ln w="12700">
            <a:solidFill>
              <a:schemeClr val="bg2"/>
            </a:solidFill>
            <a:prstDash val="solid"/>
          </a:ln>
        </p:spPr>
      </p:sp>
      <p:sp>
        <p:nvSpPr>
          <p:cNvPr id="14" name="Text 11"/>
          <p:cNvSpPr txBox="1"/>
          <p:nvPr/>
        </p:nvSpPr>
        <p:spPr>
          <a:xfrm>
            <a:off x="9198864" y="1645920"/>
            <a:ext cx="214884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0.81 / 0.86</a:t>
            </a:r>
            <a:endParaRPr lang="en-US" sz="3000" dirty="0"/>
          </a:p>
        </p:txBody>
      </p:sp>
      <p:sp>
        <p:nvSpPr>
          <p:cNvPr id="15" name="Text 12"/>
          <p:cNvSpPr txBox="1"/>
          <p:nvPr/>
        </p:nvSpPr>
        <p:spPr>
          <a:xfrm>
            <a:off x="9198864" y="2423160"/>
            <a:ext cx="2148840" cy="548640"/>
          </a:xfrm>
          <a:prstGeom prst="rect">
            <a:avLst/>
          </a:prstGeom>
          <a:noFill/>
          <a:ln/>
        </p:spPr>
        <p:txBody>
          <a:bodyPr wrap="square" lIns="0" tIns="0" rIns="0" bIns="0" rtlCol="0" anchor="t"/>
          <a:lstStyle/>
          <a:p>
            <a:pPr indent="0" marL="0">
              <a:buNone/>
            </a:pPr>
            <a:r>
              <a:rPr lang="en-US" sz="1400" dirty="0">
                <a:solidFill>
                  <a:schemeClr val="tx1"/>
                </a:solidFill>
              </a:rPr>
              <a:t>reliability α (SHAI / CSS)</a:t>
            </a:r>
            <a:endParaRPr lang="en-US" sz="1400" dirty="0"/>
          </a:p>
        </p:txBody>
      </p:sp>
      <p:pic>
        <p:nvPicPr>
          <p:cNvPr id="16" name="Image 0" descr="fig5_subscales_by_HA.png">    </p:cNvPr>
          <p:cNvPicPr>
            <a:picLocks noChangeAspect="1"/>
          </p:cNvPicPr>
          <p:nvPr/>
        </p:nvPicPr>
        <p:blipFill>
          <a:blip r:embed="rId1"/>
          <a:stretch>
            <a:fillRect/>
          </a:stretch>
        </p:blipFill>
        <p:spPr>
          <a:xfrm>
            <a:off x="3543343" y="3291840"/>
            <a:ext cx="5074833" cy="2926080"/>
          </a:xfrm>
          <a:prstGeom prst="rect">
            <a:avLst/>
          </a:prstGeom>
        </p:spPr>
      </p:pic>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Health anxiety and cyberchondria travel together</a:t>
            </a:r>
            <a:endParaRPr lang="en-US" sz="3000" dirty="0"/>
          </a:p>
        </p:txBody>
      </p:sp>
      <p:pic>
        <p:nvPicPr>
          <p:cNvPr id="4" name="Image 0" descr="fig1_scatter_shai_css.png">    </p:cNvPr>
          <p:cNvPicPr>
            <a:picLocks noChangeAspect="1"/>
          </p:cNvPicPr>
          <p:nvPr/>
        </p:nvPicPr>
        <p:blipFill>
          <a:blip r:embed="rId1"/>
          <a:stretch>
            <a:fillRect/>
          </a:stretch>
        </p:blipFill>
        <p:spPr>
          <a:xfrm>
            <a:off x="548640" y="1280160"/>
            <a:ext cx="5852160" cy="4177638"/>
          </a:xfrm>
          <a:prstGeom prst="rect">
            <a:avLst/>
          </a:prstGeom>
        </p:spPr>
      </p:pic>
      <p:sp>
        <p:nvSpPr>
          <p:cNvPr id="5" name="stat overall correlation"/>
          <p:cNvSpPr/>
          <p:nvPr/>
        </p:nvSpPr>
        <p:spPr>
          <a:xfrm>
            <a:off x="6766560" y="1280160"/>
            <a:ext cx="2331720" cy="1600200"/>
          </a:xfrm>
          <a:prstGeom prst="roundRect">
            <a:avLst>
              <a:gd name="adj" fmla="val 4571"/>
            </a:avLst>
          </a:prstGeom>
          <a:solidFill>
            <a:schemeClr val="bg2"/>
          </a:solidFill>
          <a:ln w="12700">
            <a:solidFill>
              <a:schemeClr val="bg2"/>
            </a:solidFill>
            <a:prstDash val="solid"/>
          </a:ln>
        </p:spPr>
      </p:sp>
      <p:sp>
        <p:nvSpPr>
          <p:cNvPr id="6" name="Text 2"/>
          <p:cNvSpPr txBox="1"/>
          <p:nvPr/>
        </p:nvSpPr>
        <p:spPr>
          <a:xfrm>
            <a:off x="6995160" y="1463040"/>
            <a:ext cx="187452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r = 0.47</a:t>
            </a:r>
            <a:endParaRPr lang="en-US" sz="4000" dirty="0"/>
          </a:p>
        </p:txBody>
      </p:sp>
      <p:sp>
        <p:nvSpPr>
          <p:cNvPr id="7" name="Text 3"/>
          <p:cNvSpPr txBox="1"/>
          <p:nvPr/>
        </p:nvSpPr>
        <p:spPr>
          <a:xfrm>
            <a:off x="6995160" y="2240280"/>
            <a:ext cx="1874520" cy="548640"/>
          </a:xfrm>
          <a:prstGeom prst="rect">
            <a:avLst/>
          </a:prstGeom>
          <a:noFill/>
          <a:ln/>
        </p:spPr>
        <p:txBody>
          <a:bodyPr wrap="square" lIns="0" tIns="0" rIns="0" bIns="0" rtlCol="0" anchor="t"/>
          <a:lstStyle/>
          <a:p>
            <a:pPr indent="0" marL="0">
              <a:buNone/>
            </a:pPr>
            <a:r>
              <a:rPr lang="en-US" sz="1400" dirty="0">
                <a:solidFill>
                  <a:schemeClr val="tx1"/>
                </a:solidFill>
              </a:rPr>
              <a:t>overall correlation</a:t>
            </a:r>
            <a:endParaRPr lang="en-US" sz="1400" dirty="0"/>
          </a:p>
        </p:txBody>
      </p:sp>
      <p:sp>
        <p:nvSpPr>
          <p:cNvPr id="8" name="stat partial r (adjusted)"/>
          <p:cNvSpPr/>
          <p:nvPr/>
        </p:nvSpPr>
        <p:spPr>
          <a:xfrm>
            <a:off x="9281160" y="1280160"/>
            <a:ext cx="2331720" cy="1600200"/>
          </a:xfrm>
          <a:prstGeom prst="roundRect">
            <a:avLst>
              <a:gd name="adj" fmla="val 4571"/>
            </a:avLst>
          </a:prstGeom>
          <a:solidFill>
            <a:schemeClr val="bg2"/>
          </a:solidFill>
          <a:ln w="12700">
            <a:solidFill>
              <a:schemeClr val="bg2"/>
            </a:solidFill>
            <a:prstDash val="solid"/>
          </a:ln>
        </p:spPr>
      </p:sp>
      <p:sp>
        <p:nvSpPr>
          <p:cNvPr id="9" name="Text 5"/>
          <p:cNvSpPr txBox="1"/>
          <p:nvPr/>
        </p:nvSpPr>
        <p:spPr>
          <a:xfrm>
            <a:off x="9509760" y="1463040"/>
            <a:ext cx="187452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0.48</a:t>
            </a:r>
            <a:endParaRPr lang="en-US" sz="4000" dirty="0"/>
          </a:p>
        </p:txBody>
      </p:sp>
      <p:sp>
        <p:nvSpPr>
          <p:cNvPr id="10" name="Text 6"/>
          <p:cNvSpPr txBox="1"/>
          <p:nvPr/>
        </p:nvSpPr>
        <p:spPr>
          <a:xfrm>
            <a:off x="9509760" y="2240280"/>
            <a:ext cx="1874520" cy="548640"/>
          </a:xfrm>
          <a:prstGeom prst="rect">
            <a:avLst/>
          </a:prstGeom>
          <a:noFill/>
          <a:ln/>
        </p:spPr>
        <p:txBody>
          <a:bodyPr wrap="square" lIns="0" tIns="0" rIns="0" bIns="0" rtlCol="0" anchor="t"/>
          <a:lstStyle/>
          <a:p>
            <a:pPr indent="0" marL="0">
              <a:buNone/>
            </a:pPr>
            <a:r>
              <a:rPr lang="en-US" sz="1400" dirty="0">
                <a:solidFill>
                  <a:schemeClr val="tx1"/>
                </a:solidFill>
              </a:rPr>
              <a:t>partial r (adjusted)</a:t>
            </a:r>
            <a:endParaRPr lang="en-US" sz="1400" dirty="0"/>
          </a:p>
        </p:txBody>
      </p:sp>
      <p:graphicFrame>
        <p:nvGraphicFramePr>
          <p:cNvPr id="11" name="Chart 0" descr=""/>
          <p:cNvGraphicFramePr/>
          <p:nvPr/>
        </p:nvGraphicFramePr>
        <p:xfrm>
          <a:off x="6766560" y="3063240"/>
          <a:ext cx="4846320" cy="26060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drives searching is fear, not noticing</a:t>
            </a:r>
            <a:endParaRPr lang="en-US" sz="3000" dirty="0"/>
          </a:p>
        </p:txBody>
      </p:sp>
      <p:pic>
        <p:nvPicPr>
          <p:cNvPr id="4" name="Image 0" descr="fig9_item_by_item.png">    </p:cNvPr>
          <p:cNvPicPr>
            <a:picLocks noChangeAspect="1"/>
          </p:cNvPicPr>
          <p:nvPr/>
        </p:nvPicPr>
        <p:blipFill>
          <a:blip r:embed="rId1"/>
          <a:stretch>
            <a:fillRect/>
          </a:stretch>
        </p:blipFill>
        <p:spPr>
          <a:xfrm>
            <a:off x="948389" y="1234440"/>
            <a:ext cx="5784182" cy="4937760"/>
          </a:xfrm>
          <a:prstGeom prst="rect">
            <a:avLst/>
          </a:prstGeom>
        </p:spPr>
      </p:pic>
      <p:sp>
        <p:nvSpPr>
          <p:cNvPr id="5" name="driver 0"/>
          <p:cNvSpPr/>
          <p:nvPr/>
        </p:nvSpPr>
        <p:spPr>
          <a:xfrm>
            <a:off x="7406640" y="1371600"/>
            <a:ext cx="4206240" cy="1325880"/>
          </a:xfrm>
          <a:prstGeom prst="roundRect">
            <a:avLst>
              <a:gd name="adj" fmla="val 5517"/>
            </a:avLst>
          </a:prstGeom>
          <a:solidFill>
            <a:schemeClr val="bg2"/>
          </a:solidFill>
          <a:ln w="12700">
            <a:solidFill>
              <a:schemeClr val="bg2"/>
            </a:solidFill>
            <a:prstDash val="solid"/>
          </a:ln>
        </p:spPr>
      </p:sp>
      <p:sp>
        <p:nvSpPr>
          <p:cNvPr id="6" name="Text 2"/>
          <p:cNvSpPr txBox="1"/>
          <p:nvPr/>
        </p:nvSpPr>
        <p:spPr>
          <a:xfrm>
            <a:off x="7635240" y="1508760"/>
            <a:ext cx="3749040" cy="457200"/>
          </a:xfrm>
          <a:prstGeom prst="rect">
            <a:avLst/>
          </a:prstGeom>
          <a:noFill/>
          <a:ln/>
        </p:spPr>
        <p:txBody>
          <a:bodyPr wrap="square" lIns="0" tIns="0" rIns="0" bIns="0" rtlCol="0" anchor="t"/>
          <a:lstStyle/>
          <a:p>
            <a:pPr indent="0" marL="0">
              <a:buNone/>
            </a:pPr>
            <a:r>
              <a:rPr lang="en-US" sz="2200" b="1" dirty="0">
                <a:solidFill>
                  <a:schemeClr val="accent2"/>
                </a:solidFill>
              </a:rPr>
              <a:t>ρ = 0.43</a:t>
            </a:r>
            <a:endParaRPr lang="en-US" sz="2200" dirty="0"/>
          </a:p>
        </p:txBody>
      </p:sp>
      <p:sp>
        <p:nvSpPr>
          <p:cNvPr id="7" name="Text 3"/>
          <p:cNvSpPr txBox="1"/>
          <p:nvPr/>
        </p:nvSpPr>
        <p:spPr>
          <a:xfrm>
            <a:off x="7635240" y="2011680"/>
            <a:ext cx="3749040" cy="640080"/>
          </a:xfrm>
          <a:prstGeom prst="rect">
            <a:avLst/>
          </a:prstGeom>
          <a:noFill/>
          <a:ln/>
        </p:spPr>
        <p:txBody>
          <a:bodyPr wrap="square" lIns="0" tIns="0" rIns="0" bIns="0" rtlCol="0" anchor="t"/>
          <a:lstStyle/>
          <a:p>
            <a:pPr indent="0" marL="0">
              <a:buNone/>
            </a:pPr>
            <a:r>
              <a:rPr lang="en-US" sz="1400" dirty="0">
                <a:solidFill>
                  <a:schemeClr val="tx1"/>
                </a:solidFill>
              </a:rPr>
              <a:t>Fear of serious illness ↔ panic on reading a rare condition</a:t>
            </a:r>
            <a:endParaRPr lang="en-US" sz="1400" dirty="0"/>
          </a:p>
        </p:txBody>
      </p:sp>
      <p:sp>
        <p:nvSpPr>
          <p:cNvPr id="8" name="driver 1"/>
          <p:cNvSpPr/>
          <p:nvPr/>
        </p:nvSpPr>
        <p:spPr>
          <a:xfrm>
            <a:off x="7406640" y="2880360"/>
            <a:ext cx="4206240" cy="1325880"/>
          </a:xfrm>
          <a:prstGeom prst="roundRect">
            <a:avLst>
              <a:gd name="adj" fmla="val 5517"/>
            </a:avLst>
          </a:prstGeom>
          <a:solidFill>
            <a:schemeClr val="bg2"/>
          </a:solidFill>
          <a:ln w="12700">
            <a:solidFill>
              <a:schemeClr val="bg2"/>
            </a:solidFill>
            <a:prstDash val="solid"/>
          </a:ln>
        </p:spPr>
      </p:sp>
      <p:sp>
        <p:nvSpPr>
          <p:cNvPr id="9" name="Text 5"/>
          <p:cNvSpPr txBox="1"/>
          <p:nvPr/>
        </p:nvSpPr>
        <p:spPr>
          <a:xfrm>
            <a:off x="7635240" y="3017520"/>
            <a:ext cx="3749040" cy="457200"/>
          </a:xfrm>
          <a:prstGeom prst="rect">
            <a:avLst/>
          </a:prstGeom>
          <a:noFill/>
          <a:ln/>
        </p:spPr>
        <p:txBody>
          <a:bodyPr wrap="square" lIns="0" tIns="0" rIns="0" bIns="0" rtlCol="0" anchor="t"/>
          <a:lstStyle/>
          <a:p>
            <a:pPr indent="0" marL="0">
              <a:buNone/>
            </a:pPr>
            <a:r>
              <a:rPr lang="en-US" sz="2200" b="1" dirty="0">
                <a:solidFill>
                  <a:schemeClr val="accent2"/>
                </a:solidFill>
              </a:rPr>
              <a:t>ρ = 0.42</a:t>
            </a:r>
            <a:endParaRPr lang="en-US" sz="2200" dirty="0"/>
          </a:p>
        </p:txBody>
      </p:sp>
      <p:sp>
        <p:nvSpPr>
          <p:cNvPr id="10" name="Text 6"/>
          <p:cNvSpPr txBox="1"/>
          <p:nvPr/>
        </p:nvSpPr>
        <p:spPr>
          <a:xfrm>
            <a:off x="7635240" y="3520440"/>
            <a:ext cx="3749040" cy="640080"/>
          </a:xfrm>
          <a:prstGeom prst="rect">
            <a:avLst/>
          </a:prstGeom>
          <a:noFill/>
          <a:ln/>
        </p:spPr>
        <p:txBody>
          <a:bodyPr wrap="square" lIns="0" tIns="0" rIns="0" bIns="0" rtlCol="0" anchor="t"/>
          <a:lstStyle/>
          <a:p>
            <a:pPr indent="0" marL="0">
              <a:buNone/>
            </a:pPr>
            <a:r>
              <a:rPr lang="en-US" sz="1400" dirty="0">
                <a:solidFill>
                  <a:schemeClr val="tx1"/>
                </a:solidFill>
              </a:rPr>
              <a:t>Interpreting sensations ↔ searching every sensation</a:t>
            </a:r>
            <a:endParaRPr lang="en-US" sz="1400" dirty="0"/>
          </a:p>
        </p:txBody>
      </p:sp>
      <p:sp>
        <p:nvSpPr>
          <p:cNvPr id="11" name="driver 2"/>
          <p:cNvSpPr/>
          <p:nvPr/>
        </p:nvSpPr>
        <p:spPr>
          <a:xfrm>
            <a:off x="7406640" y="4389120"/>
            <a:ext cx="4206240" cy="1325880"/>
          </a:xfrm>
          <a:prstGeom prst="roundRect">
            <a:avLst>
              <a:gd name="adj" fmla="val 5517"/>
            </a:avLst>
          </a:prstGeom>
          <a:solidFill>
            <a:srgbClr val="F0EFEC"/>
          </a:solidFill>
          <a:ln w="12700">
            <a:solidFill>
              <a:srgbClr val="F0EFEC"/>
            </a:solidFill>
            <a:prstDash val="solid"/>
          </a:ln>
        </p:spPr>
      </p:sp>
      <p:sp>
        <p:nvSpPr>
          <p:cNvPr id="12" name="Text 8"/>
          <p:cNvSpPr txBox="1"/>
          <p:nvPr/>
        </p:nvSpPr>
        <p:spPr>
          <a:xfrm>
            <a:off x="7635240" y="4526280"/>
            <a:ext cx="3749040" cy="457200"/>
          </a:xfrm>
          <a:prstGeom prst="rect">
            <a:avLst/>
          </a:prstGeom>
          <a:noFill/>
          <a:ln/>
        </p:spPr>
        <p:txBody>
          <a:bodyPr wrap="square" lIns="0" tIns="0" rIns="0" bIns="0" rtlCol="0" anchor="t"/>
          <a:lstStyle/>
          <a:p>
            <a:pPr indent="0" marL="0">
              <a:buNone/>
            </a:pPr>
            <a:r>
              <a:rPr lang="en-US" sz="2200" b="1" dirty="0">
                <a:solidFill>
                  <a:srgbClr val="52514E"/>
                </a:solidFill>
              </a:rPr>
              <a:t>≈ unrelated</a:t>
            </a:r>
            <a:endParaRPr lang="en-US" sz="2200" dirty="0"/>
          </a:p>
        </p:txBody>
      </p:sp>
      <p:sp>
        <p:nvSpPr>
          <p:cNvPr id="13" name="Text 9"/>
          <p:cNvSpPr txBox="1"/>
          <p:nvPr/>
        </p:nvSpPr>
        <p:spPr>
          <a:xfrm>
            <a:off x="7635240" y="5029200"/>
            <a:ext cx="3749040" cy="640080"/>
          </a:xfrm>
          <a:prstGeom prst="rect">
            <a:avLst/>
          </a:prstGeom>
          <a:noFill/>
          <a:ln/>
        </p:spPr>
        <p:txBody>
          <a:bodyPr wrap="square" lIns="0" tIns="0" rIns="0" bIns="0" rtlCol="0" anchor="t"/>
          <a:lstStyle/>
          <a:p>
            <a:pPr indent="0" marL="0">
              <a:buNone/>
            </a:pPr>
            <a:r>
              <a:rPr lang="en-US" sz="1400" dirty="0">
                <a:solidFill>
                  <a:schemeClr val="tx1"/>
                </a:solidFill>
              </a:rPr>
              <a:t>Mere awareness of aches and sensations</a:t>
            </a:r>
            <a:endParaRPr lang="en-US" sz="1400" dirty="0"/>
          </a:p>
        </p:txBody>
      </p:sp>
      <p:sp>
        <p:nvSpPr>
          <p:cNvPr id="14" name="Text 10"/>
          <p:cNvSpPr txBox="1"/>
          <p:nvPr/>
        </p:nvSpPr>
        <p:spPr>
          <a:xfrm>
            <a:off x="7406640" y="5943600"/>
            <a:ext cx="4206240" cy="320040"/>
          </a:xfrm>
          <a:prstGeom prst="rect">
            <a:avLst/>
          </a:prstGeom>
          <a:noFill/>
          <a:ln/>
        </p:spPr>
        <p:txBody>
          <a:bodyPr wrap="square" lIns="0" tIns="0" rIns="0" bIns="0" rtlCol="0" anchor="t"/>
          <a:lstStyle/>
          <a:p>
            <a:pPr indent="0" marL="0">
              <a:buNone/>
            </a:pPr>
            <a:r>
              <a:rPr lang="en-US" sz="1300" i="1" dirty="0">
                <a:solidFill>
                  <a:srgbClr val="52514E"/>
                </a:solidFill>
              </a:rPr>
              <a:t>111/168 item pairs significant after FDR</a:t>
            </a:r>
            <a:endParaRPr lang="en-US" sz="13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Who is most affected</a:t>
            </a:r>
            <a:endParaRPr lang="en-US" sz="3000" dirty="0"/>
          </a:p>
        </p:txBody>
      </p:sp>
      <p:pic>
        <p:nvPicPr>
          <p:cNvPr id="4" name="Image 0" descr="fig7_forest_HA.png">    </p:cNvPr>
          <p:cNvPicPr>
            <a:picLocks noChangeAspect="1"/>
          </p:cNvPicPr>
          <p:nvPr/>
        </p:nvPicPr>
        <p:blipFill>
          <a:blip r:embed="rId1"/>
          <a:stretch>
            <a:fillRect/>
          </a:stretch>
        </p:blipFill>
        <p:spPr>
          <a:xfrm>
            <a:off x="548640" y="1280160"/>
            <a:ext cx="6949440" cy="3930266"/>
          </a:xfrm>
          <a:prstGeom prst="rect">
            <a:avLst/>
          </a:prstGeom>
        </p:spPr>
      </p:pic>
      <p:sp>
        <p:nvSpPr>
          <p:cNvPr id="5" name="stat odds per SD of cyberchondria"/>
          <p:cNvSpPr/>
          <p:nvPr/>
        </p:nvSpPr>
        <p:spPr>
          <a:xfrm>
            <a:off x="7863840" y="1280160"/>
            <a:ext cx="3749040" cy="1600200"/>
          </a:xfrm>
          <a:prstGeom prst="roundRect">
            <a:avLst>
              <a:gd name="adj" fmla="val 4571"/>
            </a:avLst>
          </a:prstGeom>
          <a:solidFill>
            <a:schemeClr val="bg2"/>
          </a:solidFill>
          <a:ln w="12700">
            <a:solidFill>
              <a:schemeClr val="bg2"/>
            </a:solidFill>
            <a:prstDash val="solid"/>
          </a:ln>
        </p:spPr>
      </p:sp>
      <p:sp>
        <p:nvSpPr>
          <p:cNvPr id="6" name="Text 2"/>
          <p:cNvSpPr txBox="1"/>
          <p:nvPr/>
        </p:nvSpPr>
        <p:spPr>
          <a:xfrm>
            <a:off x="8092440" y="1463040"/>
            <a:ext cx="32918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3.12×</a:t>
            </a:r>
            <a:endParaRPr lang="en-US" sz="4000" dirty="0"/>
          </a:p>
        </p:txBody>
      </p:sp>
      <p:sp>
        <p:nvSpPr>
          <p:cNvPr id="7" name="Text 3"/>
          <p:cNvSpPr txBox="1"/>
          <p:nvPr/>
        </p:nvSpPr>
        <p:spPr>
          <a:xfrm>
            <a:off x="8092440" y="2240280"/>
            <a:ext cx="3291840" cy="548640"/>
          </a:xfrm>
          <a:prstGeom prst="rect">
            <a:avLst/>
          </a:prstGeom>
          <a:noFill/>
          <a:ln/>
        </p:spPr>
        <p:txBody>
          <a:bodyPr wrap="square" lIns="0" tIns="0" rIns="0" bIns="0" rtlCol="0" anchor="t"/>
          <a:lstStyle/>
          <a:p>
            <a:pPr indent="0" marL="0">
              <a:buNone/>
            </a:pPr>
            <a:r>
              <a:rPr lang="en-US" sz="1400" dirty="0">
                <a:solidFill>
                  <a:schemeClr val="tx1"/>
                </a:solidFill>
              </a:rPr>
              <a:t>odds per SD of cyberchondria</a:t>
            </a:r>
            <a:endParaRPr lang="en-US" sz="1400" dirty="0"/>
          </a:p>
        </p:txBody>
      </p:sp>
      <p:sp>
        <p:nvSpPr>
          <p:cNvPr id="8" name="stat odds if searching for instant reassurance"/>
          <p:cNvSpPr/>
          <p:nvPr/>
        </p:nvSpPr>
        <p:spPr>
          <a:xfrm>
            <a:off x="7863840" y="3063240"/>
            <a:ext cx="3749040" cy="1600200"/>
          </a:xfrm>
          <a:prstGeom prst="roundRect">
            <a:avLst>
              <a:gd name="adj" fmla="val 4571"/>
            </a:avLst>
          </a:prstGeom>
          <a:solidFill>
            <a:schemeClr val="bg2"/>
          </a:solidFill>
          <a:ln w="12700">
            <a:solidFill>
              <a:schemeClr val="bg2"/>
            </a:solidFill>
            <a:prstDash val="solid"/>
          </a:ln>
        </p:spPr>
      </p:sp>
      <p:sp>
        <p:nvSpPr>
          <p:cNvPr id="9" name="Text 5"/>
          <p:cNvSpPr txBox="1"/>
          <p:nvPr/>
        </p:nvSpPr>
        <p:spPr>
          <a:xfrm>
            <a:off x="8092440" y="3246120"/>
            <a:ext cx="329184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3.83×</a:t>
            </a:r>
            <a:endParaRPr lang="en-US" sz="4000" dirty="0"/>
          </a:p>
        </p:txBody>
      </p:sp>
      <p:sp>
        <p:nvSpPr>
          <p:cNvPr id="10" name="Text 6"/>
          <p:cNvSpPr txBox="1"/>
          <p:nvPr/>
        </p:nvSpPr>
        <p:spPr>
          <a:xfrm>
            <a:off x="8092440" y="4023360"/>
            <a:ext cx="3291840" cy="548640"/>
          </a:xfrm>
          <a:prstGeom prst="rect">
            <a:avLst/>
          </a:prstGeom>
          <a:noFill/>
          <a:ln/>
        </p:spPr>
        <p:txBody>
          <a:bodyPr wrap="square" lIns="0" tIns="0" rIns="0" bIns="0" rtlCol="0" anchor="t"/>
          <a:lstStyle/>
          <a:p>
            <a:pPr indent="0" marL="0">
              <a:buNone/>
            </a:pPr>
            <a:r>
              <a:rPr lang="en-US" sz="1400" dirty="0">
                <a:solidFill>
                  <a:schemeClr val="tx1"/>
                </a:solidFill>
              </a:rPr>
              <a:t>odds if searching for instant reassurance</a:t>
            </a:r>
            <a:endParaRPr lang="en-US" sz="1400" dirty="0"/>
          </a:p>
        </p:txBody>
      </p:sp>
      <p:sp>
        <p:nvSpPr>
          <p:cNvPr id="11" name="stat AUC: good discrimination"/>
          <p:cNvSpPr/>
          <p:nvPr/>
        </p:nvSpPr>
        <p:spPr>
          <a:xfrm>
            <a:off x="7863840" y="4846320"/>
            <a:ext cx="3749040" cy="1600200"/>
          </a:xfrm>
          <a:prstGeom prst="roundRect">
            <a:avLst>
              <a:gd name="adj" fmla="val 4571"/>
            </a:avLst>
          </a:prstGeom>
          <a:solidFill>
            <a:schemeClr val="bg2"/>
          </a:solidFill>
          <a:ln w="12700">
            <a:solidFill>
              <a:schemeClr val="bg2"/>
            </a:solidFill>
            <a:prstDash val="solid"/>
          </a:ln>
        </p:spPr>
      </p:sp>
      <p:sp>
        <p:nvSpPr>
          <p:cNvPr id="12" name="Text 8"/>
          <p:cNvSpPr txBox="1"/>
          <p:nvPr/>
        </p:nvSpPr>
        <p:spPr>
          <a:xfrm>
            <a:off x="8092440" y="5029200"/>
            <a:ext cx="32918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0.83</a:t>
            </a:r>
            <a:endParaRPr lang="en-US" sz="4000" dirty="0"/>
          </a:p>
        </p:txBody>
      </p:sp>
      <p:sp>
        <p:nvSpPr>
          <p:cNvPr id="13" name="Text 9"/>
          <p:cNvSpPr txBox="1"/>
          <p:nvPr/>
        </p:nvSpPr>
        <p:spPr>
          <a:xfrm>
            <a:off x="8092440" y="5806440"/>
            <a:ext cx="3291840" cy="548640"/>
          </a:xfrm>
          <a:prstGeom prst="rect">
            <a:avLst/>
          </a:prstGeom>
          <a:noFill/>
          <a:ln/>
        </p:spPr>
        <p:txBody>
          <a:bodyPr wrap="square" lIns="0" tIns="0" rIns="0" bIns="0" rtlCol="0" anchor="t"/>
          <a:lstStyle/>
          <a:p>
            <a:pPr indent="0" marL="0">
              <a:buNone/>
            </a:pPr>
            <a:r>
              <a:rPr lang="en-US" sz="1400" dirty="0">
                <a:solidFill>
                  <a:schemeClr val="tx1"/>
                </a:solidFill>
              </a:rPr>
              <a:t>AUC: good discrimination</a:t>
            </a:r>
            <a:endParaRPr lang="en-US" sz="14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pattern consistent with a cycle</a:t>
            </a:r>
            <a:endParaRPr lang="en-US" sz="3000" dirty="0"/>
          </a:p>
        </p:txBody>
      </p:sp>
      <p:pic>
        <p:nvPicPr>
          <p:cNvPr id="4" name="Image 0" descr="fig8_mediation.png">    </p:cNvPr>
          <p:cNvPicPr>
            <a:picLocks noChangeAspect="1"/>
          </p:cNvPicPr>
          <p:nvPr/>
        </p:nvPicPr>
        <p:blipFill>
          <a:blip r:embed="rId1"/>
          <a:stretch>
            <a:fillRect/>
          </a:stretch>
        </p:blipFill>
        <p:spPr>
          <a:xfrm>
            <a:off x="816696" y="1325880"/>
            <a:ext cx="10528127" cy="3931920"/>
          </a:xfrm>
          <a:prstGeom prst="rect">
            <a:avLst/>
          </a:prstGeom>
        </p:spPr>
      </p:pic>
      <p:sp>
        <p:nvSpPr>
          <p:cNvPr id="5" name="caveat causality"/>
          <p:cNvSpPr/>
          <p:nvPr/>
        </p:nvSpPr>
        <p:spPr>
          <a:xfrm>
            <a:off x="548640" y="5349240"/>
            <a:ext cx="11064240" cy="868680"/>
          </a:xfrm>
          <a:prstGeom prst="roundRect">
            <a:avLst>
              <a:gd name="adj" fmla="val 8421"/>
            </a:avLst>
          </a:prstGeom>
          <a:solidFill>
            <a:srgbClr val="FDEEE7"/>
          </a:solidFill>
          <a:ln w="12700">
            <a:solidFill>
              <a:srgbClr val="FDEEE7"/>
            </a:solidFill>
            <a:prstDash val="solid"/>
          </a:ln>
        </p:spPr>
      </p:sp>
      <p:sp>
        <p:nvSpPr>
          <p:cNvPr id="6" name="Text 2"/>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600" dirty="0">
                <a:solidFill>
                  <a:schemeClr val="tx1"/>
                </a:solidFill>
              </a:rPr>
              <a:t>Reverse path also significant (indirect 0.15): compatible with mutual reinforcement, but cross-sectional data cannot prove direction.</a:t>
            </a:r>
            <a:endParaRPr lang="en-US" sz="16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Searching shapes the consultation</a:t>
            </a:r>
            <a:endParaRPr lang="en-US" sz="3000" dirty="0"/>
          </a:p>
        </p:txBody>
      </p:sp>
      <p:graphicFrame>
        <p:nvGraphicFramePr>
          <p:cNvPr id="4" name="Chart 0" descr=""/>
          <p:cNvGraphicFramePr/>
          <p:nvPr/>
        </p:nvGraphicFramePr>
        <p:xfrm>
          <a:off x="548640" y="128016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stat never tell their doctor about searches (fear of being judged)"/>
          <p:cNvSpPr/>
          <p:nvPr/>
        </p:nvSpPr>
        <p:spPr>
          <a:xfrm>
            <a:off x="6858000" y="1280160"/>
            <a:ext cx="4754880" cy="1600200"/>
          </a:xfrm>
          <a:prstGeom prst="roundRect">
            <a:avLst>
              <a:gd name="adj" fmla="val 4571"/>
            </a:avLst>
          </a:prstGeom>
          <a:solidFill>
            <a:schemeClr val="bg2"/>
          </a:solidFill>
          <a:ln w="12700">
            <a:solidFill>
              <a:schemeClr val="bg2"/>
            </a:solidFill>
            <a:prstDash val="solid"/>
          </a:ln>
        </p:spPr>
      </p:sp>
      <p:sp>
        <p:nvSpPr>
          <p:cNvPr id="6" name="Text 2"/>
          <p:cNvSpPr txBox="1"/>
          <p:nvPr/>
        </p:nvSpPr>
        <p:spPr>
          <a:xfrm>
            <a:off x="7086600" y="1463040"/>
            <a:ext cx="429768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31.7%</a:t>
            </a:r>
            <a:endParaRPr lang="en-US" sz="4000" dirty="0"/>
          </a:p>
        </p:txBody>
      </p:sp>
      <p:sp>
        <p:nvSpPr>
          <p:cNvPr id="7" name="Text 3"/>
          <p:cNvSpPr txBox="1"/>
          <p:nvPr/>
        </p:nvSpPr>
        <p:spPr>
          <a:xfrm>
            <a:off x="7086600" y="2240280"/>
            <a:ext cx="4297680" cy="548640"/>
          </a:xfrm>
          <a:prstGeom prst="rect">
            <a:avLst/>
          </a:prstGeom>
          <a:noFill/>
          <a:ln/>
        </p:spPr>
        <p:txBody>
          <a:bodyPr wrap="square" lIns="0" tIns="0" rIns="0" bIns="0" rtlCol="0" anchor="t"/>
          <a:lstStyle/>
          <a:p>
            <a:pPr indent="0" marL="0">
              <a:buNone/>
            </a:pPr>
            <a:r>
              <a:rPr lang="en-US" sz="1400" dirty="0">
                <a:solidFill>
                  <a:schemeClr val="tx1"/>
                </a:solidFill>
              </a:rPr>
              <a:t>never tell their doctor about searches (fear of being judged)</a:t>
            </a:r>
            <a:endParaRPr lang="en-US" sz="1400" dirty="0"/>
          </a:p>
        </p:txBody>
      </p:sp>
      <p:sp>
        <p:nvSpPr>
          <p:cNvPr id="8" name="paradox"/>
          <p:cNvSpPr/>
          <p:nvPr/>
        </p:nvSpPr>
        <p:spPr>
          <a:xfrm>
            <a:off x="6858000" y="3063240"/>
            <a:ext cx="4754880" cy="2697480"/>
          </a:xfrm>
          <a:prstGeom prst="roundRect">
            <a:avLst>
              <a:gd name="adj" fmla="val 2712"/>
            </a:avLst>
          </a:prstGeom>
          <a:solidFill>
            <a:schemeClr val="bg2"/>
          </a:solidFill>
          <a:ln w="12700">
            <a:solidFill>
              <a:schemeClr val="bg2"/>
            </a:solidFill>
            <a:prstDash val="solid"/>
          </a:ln>
        </p:spPr>
      </p:sp>
      <p:sp>
        <p:nvSpPr>
          <p:cNvPr id="9" name="Text 5"/>
          <p:cNvSpPr txBox="1"/>
          <p:nvPr/>
        </p:nvSpPr>
        <p:spPr>
          <a:xfrm>
            <a:off x="7132320" y="3246120"/>
            <a:ext cx="4206240" cy="411480"/>
          </a:xfrm>
          <a:prstGeom prst="rect">
            <a:avLst/>
          </a:prstGeom>
          <a:noFill/>
          <a:ln/>
        </p:spPr>
        <p:txBody>
          <a:bodyPr wrap="square" lIns="0" tIns="0" rIns="0" bIns="0" rtlCol="0" anchor="t"/>
          <a:lstStyle/>
          <a:p>
            <a:pPr indent="0" marL="0">
              <a:buNone/>
            </a:pPr>
            <a:r>
              <a:rPr lang="en-US" sz="1800" b="1" dirty="0">
                <a:solidFill>
                  <a:schemeClr val="tx2"/>
                </a:solidFill>
              </a:rPr>
              <a:t>The concealment paradox</a:t>
            </a:r>
            <a:endParaRPr lang="en-US" sz="1800" dirty="0"/>
          </a:p>
        </p:txBody>
      </p:sp>
      <p:sp>
        <p:nvSpPr>
          <p:cNvPr id="10" name="Text 6"/>
          <p:cNvSpPr txBox="1"/>
          <p:nvPr/>
        </p:nvSpPr>
        <p:spPr>
          <a:xfrm>
            <a:off x="7132320" y="3749040"/>
            <a:ext cx="429768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Higher health anxiety → more hiding (AOR 1.47)</a:t>
            </a:r>
            <a:endParaRPr lang="en-US" sz="1500" dirty="0"/>
          </a:p>
          <a:p>
            <a:pPr marL="342900" indent="-342900">
              <a:spcAft>
                <a:spcPts val="600"/>
              </a:spcAft>
              <a:buSzPct val="100000"/>
              <a:buChar char="•"/>
            </a:pPr>
            <a:r>
              <a:rPr lang="en-US" sz="1500" dirty="0">
                <a:solidFill>
                  <a:schemeClr val="tx1"/>
                </a:solidFill>
              </a:rPr>
              <a:t>Higher cyberchondria → more sharing (AOR 0.57)</a:t>
            </a:r>
            <a:endParaRPr lang="en-US" sz="1500" dirty="0"/>
          </a:p>
          <a:p>
            <a:pPr marL="342900" indent="-342900">
              <a:spcAft>
                <a:spcPts val="600"/>
              </a:spcAft>
              <a:buSzPct val="100000"/>
              <a:buChar char="•"/>
            </a:pPr>
            <a:r>
              <a:rPr lang="en-US" sz="1500" dirty="0">
                <a:solidFill>
                  <a:schemeClr val="tx1"/>
                </a:solidFill>
              </a:rPr>
              <a:t>34.7% say searching strained their trust in doctors</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AI chatbots: a new channel, not a proven cause</a:t>
            </a:r>
            <a:endParaRPr lang="en-US" sz="3000" dirty="0"/>
          </a:p>
        </p:txBody>
      </p:sp>
      <p:sp>
        <p:nvSpPr>
          <p:cNvPr id="4" name="stat CSS points in AI users (adjusted)"/>
          <p:cNvSpPr/>
          <p:nvPr/>
        </p:nvSpPr>
        <p:spPr>
          <a:xfrm>
            <a:off x="548640" y="1463040"/>
            <a:ext cx="3474720" cy="1600200"/>
          </a:xfrm>
          <a:prstGeom prst="roundRect">
            <a:avLst>
              <a:gd name="adj" fmla="val 4571"/>
            </a:avLst>
          </a:prstGeom>
          <a:solidFill>
            <a:schemeClr val="bg2"/>
          </a:solidFill>
          <a:ln w="12700">
            <a:solidFill>
              <a:schemeClr val="bg2"/>
            </a:solidFill>
            <a:prstDash val="solid"/>
          </a:ln>
        </p:spPr>
      </p:sp>
      <p:sp>
        <p:nvSpPr>
          <p:cNvPr id="5" name="Text 2"/>
          <p:cNvSpPr txBox="1"/>
          <p:nvPr/>
        </p:nvSpPr>
        <p:spPr>
          <a:xfrm>
            <a:off x="777240" y="1645920"/>
            <a:ext cx="301752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+5.3</a:t>
            </a:r>
            <a:endParaRPr lang="en-US" sz="4000" dirty="0"/>
          </a:p>
        </p:txBody>
      </p:sp>
      <p:sp>
        <p:nvSpPr>
          <p:cNvPr id="6" name="Text 3"/>
          <p:cNvSpPr txBox="1"/>
          <p:nvPr/>
        </p:nvSpPr>
        <p:spPr>
          <a:xfrm>
            <a:off x="777240" y="2423160"/>
            <a:ext cx="3017520" cy="548640"/>
          </a:xfrm>
          <a:prstGeom prst="rect">
            <a:avLst/>
          </a:prstGeom>
          <a:noFill/>
          <a:ln/>
        </p:spPr>
        <p:txBody>
          <a:bodyPr wrap="square" lIns="0" tIns="0" rIns="0" bIns="0" rtlCol="0" anchor="t"/>
          <a:lstStyle/>
          <a:p>
            <a:pPr indent="0" marL="0">
              <a:buNone/>
            </a:pPr>
            <a:r>
              <a:rPr lang="en-US" sz="1400" dirty="0">
                <a:solidFill>
                  <a:schemeClr val="tx1"/>
                </a:solidFill>
              </a:rPr>
              <a:t>CSS points in AI users (adjusted)</a:t>
            </a:r>
            <a:endParaRPr lang="en-US" sz="1400" dirty="0"/>
          </a:p>
        </p:txBody>
      </p:sp>
      <p:sp>
        <p:nvSpPr>
          <p:cNvPr id="7" name="stat with strict definition (p = 0.31)"/>
          <p:cNvSpPr/>
          <p:nvPr/>
        </p:nvSpPr>
        <p:spPr>
          <a:xfrm>
            <a:off x="4343400" y="1463040"/>
            <a:ext cx="3474720" cy="1600200"/>
          </a:xfrm>
          <a:prstGeom prst="roundRect">
            <a:avLst>
              <a:gd name="adj" fmla="val 4571"/>
            </a:avLst>
          </a:prstGeom>
          <a:solidFill>
            <a:schemeClr val="bg2"/>
          </a:solidFill>
          <a:ln w="12700">
            <a:solidFill>
              <a:schemeClr val="bg2"/>
            </a:solidFill>
            <a:prstDash val="solid"/>
          </a:ln>
        </p:spPr>
      </p:sp>
      <p:sp>
        <p:nvSpPr>
          <p:cNvPr id="8" name="Text 5"/>
          <p:cNvSpPr txBox="1"/>
          <p:nvPr/>
        </p:nvSpPr>
        <p:spPr>
          <a:xfrm>
            <a:off x="4572000" y="1645920"/>
            <a:ext cx="3017520" cy="77724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1.5</a:t>
            </a:r>
            <a:endParaRPr lang="en-US" sz="4000" dirty="0"/>
          </a:p>
        </p:txBody>
      </p:sp>
      <p:sp>
        <p:nvSpPr>
          <p:cNvPr id="9" name="Text 6"/>
          <p:cNvSpPr txBox="1"/>
          <p:nvPr/>
        </p:nvSpPr>
        <p:spPr>
          <a:xfrm>
            <a:off x="4572000" y="2423160"/>
            <a:ext cx="3017520" cy="548640"/>
          </a:xfrm>
          <a:prstGeom prst="rect">
            <a:avLst/>
          </a:prstGeom>
          <a:noFill/>
          <a:ln/>
        </p:spPr>
        <p:txBody>
          <a:bodyPr wrap="square" lIns="0" tIns="0" rIns="0" bIns="0" rtlCol="0" anchor="t"/>
          <a:lstStyle/>
          <a:p>
            <a:pPr indent="0" marL="0">
              <a:buNone/>
            </a:pPr>
            <a:r>
              <a:rPr lang="en-US" sz="1400" dirty="0">
                <a:solidFill>
                  <a:schemeClr val="tx1"/>
                </a:solidFill>
              </a:rPr>
              <a:t>with strict definition (p = 0.31)</a:t>
            </a:r>
            <a:endParaRPr lang="en-US" sz="1400" dirty="0"/>
          </a:p>
        </p:txBody>
      </p:sp>
      <p:sp>
        <p:nvSpPr>
          <p:cNvPr id="10" name="stat true non-users: a small comparison group"/>
          <p:cNvSpPr/>
          <p:nvPr/>
        </p:nvSpPr>
        <p:spPr>
          <a:xfrm>
            <a:off x="8138160" y="1463040"/>
            <a:ext cx="3474720" cy="1600200"/>
          </a:xfrm>
          <a:prstGeom prst="roundRect">
            <a:avLst>
              <a:gd name="adj" fmla="val 4571"/>
            </a:avLst>
          </a:prstGeom>
          <a:solidFill>
            <a:schemeClr val="bg2"/>
          </a:solidFill>
          <a:ln w="12700">
            <a:solidFill>
              <a:schemeClr val="bg2"/>
            </a:solidFill>
            <a:prstDash val="solid"/>
          </a:ln>
        </p:spPr>
      </p:sp>
      <p:sp>
        <p:nvSpPr>
          <p:cNvPr id="11" name="Text 8"/>
          <p:cNvSpPr txBox="1"/>
          <p:nvPr/>
        </p:nvSpPr>
        <p:spPr>
          <a:xfrm>
            <a:off x="8366760" y="1645920"/>
            <a:ext cx="3017520" cy="777240"/>
          </a:xfrm>
          <a:prstGeom prst="rect">
            <a:avLst/>
          </a:prstGeom>
          <a:noFill/>
          <a:ln/>
        </p:spPr>
        <p:txBody>
          <a:bodyPr wrap="square" lIns="0" tIns="0" rIns="0" bIns="0" rtlCol="0" anchor="ctr"/>
          <a:lstStyle/>
          <a:p>
            <a:pPr indent="0" marL="0">
              <a:buNone/>
            </a:pPr>
            <a:r>
              <a:rPr lang="en-US" sz="4000" b="1" dirty="0">
                <a:solidFill>
                  <a:srgbClr val="52514E"/>
                </a:solidFill>
                <a:latin typeface="Cambria" pitchFamily="34" charset="0"/>
                <a:ea typeface="Cambria" pitchFamily="34" charset="-122"/>
                <a:cs typeface="Cambria" pitchFamily="34" charset="-120"/>
              </a:rPr>
              <a:t>34</a:t>
            </a:r>
            <a:endParaRPr lang="en-US" sz="4000" dirty="0"/>
          </a:p>
        </p:txBody>
      </p:sp>
      <p:sp>
        <p:nvSpPr>
          <p:cNvPr id="12" name="Text 9"/>
          <p:cNvSpPr txBox="1"/>
          <p:nvPr/>
        </p:nvSpPr>
        <p:spPr>
          <a:xfrm>
            <a:off x="8366760" y="2423160"/>
            <a:ext cx="3017520" cy="548640"/>
          </a:xfrm>
          <a:prstGeom prst="rect">
            <a:avLst/>
          </a:prstGeom>
          <a:noFill/>
          <a:ln/>
        </p:spPr>
        <p:txBody>
          <a:bodyPr wrap="square" lIns="0" tIns="0" rIns="0" bIns="0" rtlCol="0" anchor="t"/>
          <a:lstStyle/>
          <a:p>
            <a:pPr indent="0" marL="0">
              <a:buNone/>
            </a:pPr>
            <a:r>
              <a:rPr lang="en-US" sz="1400" dirty="0">
                <a:solidFill>
                  <a:schemeClr val="tx1"/>
                </a:solidFill>
              </a:rPr>
              <a:t>true non-users: a small comparison group</a:t>
            </a:r>
            <a:endParaRPr lang="en-US" sz="1400" dirty="0"/>
          </a:p>
        </p:txBody>
      </p:sp>
      <p:sp>
        <p:nvSpPr>
          <p:cNvPr id="13" name="Text 10"/>
          <p:cNvSpPr txBox="1"/>
          <p:nvPr/>
        </p:nvSpPr>
        <p:spPr>
          <a:xfrm>
            <a:off x="548640" y="3429000"/>
            <a:ext cx="11064240" cy="23774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32 respondents named a chatbot without ticking "AI chatbots"; how they are classified decides the result</a:t>
            </a:r>
            <a:endParaRPr lang="en-US" sz="1700" dirty="0"/>
          </a:p>
          <a:p>
            <a:pPr marL="342900" indent="-342900">
              <a:spcAft>
                <a:spcPts val="800"/>
              </a:spcAft>
              <a:buSzPct val="100000"/>
              <a:buChar char="•"/>
            </a:pPr>
            <a:r>
              <a:rPr lang="en-US" sz="1700" dirty="0">
                <a:solidFill>
                  <a:schemeClr val="tx1"/>
                </a:solidFill>
              </a:rPr>
              <a:t>Effect concentrated in excessiveness and reassurance seeking: conversational AI may invite "one more question"</a:t>
            </a:r>
            <a:endParaRPr lang="en-US" sz="1700" dirty="0"/>
          </a:p>
          <a:p>
            <a:pPr marL="342900" indent="-342900">
              <a:spcAft>
                <a:spcPts val="800"/>
              </a:spcAft>
              <a:buSzPct val="100000"/>
              <a:buChar char="•"/>
            </a:pPr>
            <a:r>
              <a:rPr lang="en-US" sz="1700" dirty="0">
                <a:solidFill>
                  <a:schemeClr val="tx1"/>
                </a:solidFill>
              </a:rPr>
              <a:t>AI use did not change the strength of the health anxiety–cyberchondria link</a:t>
            </a:r>
            <a:endParaRPr lang="en-US" sz="17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how we addressed them</a:t>
            </a:r>
            <a:endParaRPr lang="en-US" sz="3000" dirty="0"/>
          </a:p>
        </p:txBody>
      </p:sp>
      <p:sp>
        <p:nvSpPr>
          <p:cNvPr id="4" name="limitation Cross-sectional"/>
          <p:cNvSpPr/>
          <p:nvPr/>
        </p:nvSpPr>
        <p:spPr>
          <a:xfrm>
            <a:off x="548640" y="1371600"/>
            <a:ext cx="3566160" cy="2057400"/>
          </a:xfrm>
          <a:prstGeom prst="roundRect">
            <a:avLst>
              <a:gd name="adj" fmla="val 3556"/>
            </a:avLst>
          </a:prstGeom>
          <a:solidFill>
            <a:schemeClr val="bg2"/>
          </a:solidFill>
          <a:ln w="12700">
            <a:solidFill>
              <a:schemeClr val="bg2"/>
            </a:solidFill>
            <a:prstDash val="solid"/>
          </a:ln>
        </p:spPr>
      </p:sp>
      <p:sp>
        <p:nvSpPr>
          <p:cNvPr id="5" name="Text 2"/>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Cross-sectional</a:t>
            </a:r>
            <a:endParaRPr lang="en-US" sz="1800" dirty="0"/>
          </a:p>
        </p:txBody>
      </p:sp>
      <p:sp>
        <p:nvSpPr>
          <p:cNvPr id="6" name="Text 3"/>
          <p:cNvSpPr txBox="1"/>
          <p:nvPr/>
        </p:nvSpPr>
        <p:spPr>
          <a:xfrm>
            <a:off x="82296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No causal claims; reverse paths tested; longitudinal work recommended</a:t>
            </a:r>
            <a:endParaRPr lang="en-US" sz="1500" dirty="0"/>
          </a:p>
        </p:txBody>
      </p:sp>
      <p:sp>
        <p:nvSpPr>
          <p:cNvPr id="7" name="limitation Convenience sample"/>
          <p:cNvSpPr/>
          <p:nvPr/>
        </p:nvSpPr>
        <p:spPr>
          <a:xfrm>
            <a:off x="4297680" y="1371600"/>
            <a:ext cx="3566160" cy="2057400"/>
          </a:xfrm>
          <a:prstGeom prst="roundRect">
            <a:avLst>
              <a:gd name="adj" fmla="val 3556"/>
            </a:avLst>
          </a:prstGeom>
          <a:solidFill>
            <a:schemeClr val="bg2"/>
          </a:solidFill>
          <a:ln w="12700">
            <a:solidFill>
              <a:schemeClr val="bg2"/>
            </a:solidFill>
            <a:prstDash val="solid"/>
          </a:ln>
        </p:spPr>
      </p:sp>
      <p:sp>
        <p:nvSpPr>
          <p:cNvPr id="8" name="Text 5"/>
          <p:cNvSpPr txBox="1"/>
          <p:nvPr/>
        </p:nvSpPr>
        <p:spPr>
          <a:xfrm>
            <a:off x="4572000" y="160020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Convenience sample</a:t>
            </a:r>
            <a:endParaRPr lang="en-US" sz="1800" dirty="0"/>
          </a:p>
        </p:txBody>
      </p:sp>
      <p:sp>
        <p:nvSpPr>
          <p:cNvPr id="9" name="Text 6"/>
          <p:cNvSpPr txBox="1"/>
          <p:nvPr/>
        </p:nvSpPr>
        <p:spPr>
          <a:xfrm>
            <a:off x="457200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Young, 44% medical students; associations consistent across all subgroups</a:t>
            </a:r>
            <a:endParaRPr lang="en-US" sz="1500" dirty="0"/>
          </a:p>
        </p:txBody>
      </p:sp>
      <p:sp>
        <p:nvSpPr>
          <p:cNvPr id="10" name="limitation Arabic wording"/>
          <p:cNvSpPr/>
          <p:nvPr/>
        </p:nvSpPr>
        <p:spPr>
          <a:xfrm>
            <a:off x="8046720" y="1371600"/>
            <a:ext cx="3566160" cy="2057400"/>
          </a:xfrm>
          <a:prstGeom prst="roundRect">
            <a:avLst>
              <a:gd name="adj" fmla="val 3556"/>
            </a:avLst>
          </a:prstGeom>
          <a:solidFill>
            <a:schemeClr val="bg2"/>
          </a:solidFill>
          <a:ln w="12700">
            <a:solidFill>
              <a:schemeClr val="bg2"/>
            </a:solidFill>
            <a:prstDash val="solid"/>
          </a:ln>
        </p:spPr>
      </p:sp>
      <p:sp>
        <p:nvSpPr>
          <p:cNvPr id="11" name="Text 8"/>
          <p:cNvSpPr txBox="1"/>
          <p:nvPr/>
        </p:nvSpPr>
        <p:spPr>
          <a:xfrm>
            <a:off x="8321040" y="160020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Arabic wording</a:t>
            </a:r>
            <a:endParaRPr lang="en-US" sz="1800" dirty="0"/>
          </a:p>
        </p:txBody>
      </p:sp>
      <p:sp>
        <p:nvSpPr>
          <p:cNvPr id="12" name="Text 9"/>
          <p:cNvSpPr txBox="1"/>
          <p:nvPr/>
        </p:nvSpPr>
        <p:spPr>
          <a:xfrm>
            <a:off x="8321040" y="2103120"/>
            <a:ext cx="3017520" cy="1234440"/>
          </a:xfrm>
          <a:prstGeom prst="rect">
            <a:avLst/>
          </a:prstGeom>
          <a:noFill/>
          <a:ln/>
        </p:spPr>
        <p:txBody>
          <a:bodyPr wrap="square" lIns="0" tIns="0" rIns="0" bIns="0" rtlCol="0" anchor="t"/>
          <a:lstStyle/>
          <a:p>
            <a:pPr indent="0" marL="0">
              <a:buNone/>
            </a:pPr>
            <a:r>
              <a:rPr lang="en-US" sz="1500" dirty="0">
                <a:solidFill>
                  <a:schemeClr val="tx1"/>
                </a:solidFill>
              </a:rPr>
              <a:t>Not back-translated; equal reliability and loadings across Arabic and English responders</a:t>
            </a:r>
            <a:endParaRPr lang="en-US" sz="1500" dirty="0"/>
          </a:p>
        </p:txBody>
      </p:sp>
      <p:sp>
        <p:nvSpPr>
          <p:cNvPr id="13" name="limitation Single-item measures"/>
          <p:cNvSpPr/>
          <p:nvPr/>
        </p:nvSpPr>
        <p:spPr>
          <a:xfrm>
            <a:off x="548640" y="3611880"/>
            <a:ext cx="3566160" cy="2057400"/>
          </a:xfrm>
          <a:prstGeom prst="roundRect">
            <a:avLst>
              <a:gd name="adj" fmla="val 3556"/>
            </a:avLst>
          </a:prstGeom>
          <a:solidFill>
            <a:schemeClr val="bg2"/>
          </a:solidFill>
          <a:ln w="12700">
            <a:solidFill>
              <a:schemeClr val="bg2"/>
            </a:solidFill>
            <a:prstDash val="solid"/>
          </a:ln>
        </p:spPr>
      </p:sp>
      <p:sp>
        <p:nvSpPr>
          <p:cNvPr id="14" name="Text 11"/>
          <p:cNvSpPr txBox="1"/>
          <p:nvPr/>
        </p:nvSpPr>
        <p:spPr>
          <a:xfrm>
            <a:off x="822960" y="38404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Single-item measures</a:t>
            </a:r>
            <a:endParaRPr lang="en-US" sz="1800" dirty="0"/>
          </a:p>
        </p:txBody>
      </p:sp>
      <p:sp>
        <p:nvSpPr>
          <p:cNvPr id="15" name="Text 12"/>
          <p:cNvSpPr txBox="1"/>
          <p:nvPr/>
        </p:nvSpPr>
        <p:spPr>
          <a:xfrm>
            <a:off x="82296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Behaviour and trust items are descriptive; their associations labelled exploratory</a:t>
            </a:r>
            <a:endParaRPr lang="en-US" sz="1500" dirty="0"/>
          </a:p>
        </p:txBody>
      </p:sp>
      <p:sp>
        <p:nvSpPr>
          <p:cNvPr id="16" name="limitation Many tests"/>
          <p:cNvSpPr/>
          <p:nvPr/>
        </p:nvSpPr>
        <p:spPr>
          <a:xfrm>
            <a:off x="4297680" y="3611880"/>
            <a:ext cx="3566160" cy="2057400"/>
          </a:xfrm>
          <a:prstGeom prst="roundRect">
            <a:avLst>
              <a:gd name="adj" fmla="val 3556"/>
            </a:avLst>
          </a:prstGeom>
          <a:solidFill>
            <a:schemeClr val="bg2"/>
          </a:solidFill>
          <a:ln w="12700">
            <a:solidFill>
              <a:schemeClr val="bg2"/>
            </a:solidFill>
            <a:prstDash val="solid"/>
          </a:ln>
        </p:spPr>
      </p:sp>
      <p:sp>
        <p:nvSpPr>
          <p:cNvPr id="17" name="Text 14"/>
          <p:cNvSpPr txBox="1"/>
          <p:nvPr/>
        </p:nvSpPr>
        <p:spPr>
          <a:xfrm>
            <a:off x="4572000" y="38404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Many tests</a:t>
            </a:r>
            <a:endParaRPr lang="en-US" sz="1800" dirty="0"/>
          </a:p>
        </p:txBody>
      </p:sp>
      <p:sp>
        <p:nvSpPr>
          <p:cNvPr id="18" name="Text 15"/>
          <p:cNvSpPr txBox="1"/>
          <p:nvPr/>
        </p:nvSpPr>
        <p:spPr>
          <a:xfrm>
            <a:off x="457200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FDR correction applied; robust vs exploratory findings separated</a:t>
            </a:r>
            <a:endParaRPr lang="en-US" sz="1500" dirty="0"/>
          </a:p>
        </p:txBody>
      </p:sp>
      <p:sp>
        <p:nvSpPr>
          <p:cNvPr id="19" name="limitation Self-report online"/>
          <p:cNvSpPr/>
          <p:nvPr/>
        </p:nvSpPr>
        <p:spPr>
          <a:xfrm>
            <a:off x="8046720" y="3611880"/>
            <a:ext cx="3566160" cy="2057400"/>
          </a:xfrm>
          <a:prstGeom prst="roundRect">
            <a:avLst>
              <a:gd name="adj" fmla="val 3556"/>
            </a:avLst>
          </a:prstGeom>
          <a:solidFill>
            <a:schemeClr val="bg2"/>
          </a:solidFill>
          <a:ln w="12700">
            <a:solidFill>
              <a:schemeClr val="bg2"/>
            </a:solidFill>
            <a:prstDash val="solid"/>
          </a:ln>
        </p:spPr>
      </p:sp>
      <p:sp>
        <p:nvSpPr>
          <p:cNvPr id="20" name="Text 17"/>
          <p:cNvSpPr txBox="1"/>
          <p:nvPr/>
        </p:nvSpPr>
        <p:spPr>
          <a:xfrm>
            <a:off x="8321040" y="3840480"/>
            <a:ext cx="3017520" cy="411480"/>
          </a:xfrm>
          <a:prstGeom prst="rect">
            <a:avLst/>
          </a:prstGeom>
          <a:noFill/>
          <a:ln/>
        </p:spPr>
        <p:txBody>
          <a:bodyPr wrap="square" lIns="0" tIns="0" rIns="0" bIns="0" rtlCol="0" anchor="t"/>
          <a:lstStyle/>
          <a:p>
            <a:pPr indent="0" marL="0">
              <a:buNone/>
            </a:pPr>
            <a:r>
              <a:rPr lang="en-US" sz="1800" b="1" dirty="0">
                <a:solidFill>
                  <a:schemeClr val="accent2"/>
                </a:solidFill>
              </a:rPr>
              <a:t>Self-report online</a:t>
            </a:r>
            <a:endParaRPr lang="en-US" sz="1800" dirty="0"/>
          </a:p>
        </p:txBody>
      </p:sp>
      <p:sp>
        <p:nvSpPr>
          <p:cNvPr id="21" name="Text 18"/>
          <p:cNvSpPr txBox="1"/>
          <p:nvPr/>
        </p:nvSpPr>
        <p:spPr>
          <a:xfrm>
            <a:off x="8321040" y="4343400"/>
            <a:ext cx="3017520" cy="1234440"/>
          </a:xfrm>
          <a:prstGeom prst="rect">
            <a:avLst/>
          </a:prstGeom>
          <a:noFill/>
          <a:ln/>
        </p:spPr>
        <p:txBody>
          <a:bodyPr wrap="square" lIns="0" tIns="0" rIns="0" bIns="0" rtlCol="0" anchor="t"/>
          <a:lstStyle/>
          <a:p>
            <a:pPr indent="0" marL="0">
              <a:buNone/>
            </a:pPr>
            <a:r>
              <a:rPr lang="en-US" sz="1500" dirty="0">
                <a:solidFill>
                  <a:schemeClr val="tx1"/>
                </a:solidFill>
              </a:rPr>
              <a:t>Anonymous; careless responders checked; excluding them changed nothing</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Conclusions and recommendations</a:t>
            </a:r>
            <a:endParaRPr lang="en-US" sz="3000" dirty="0"/>
          </a:p>
        </p:txBody>
      </p:sp>
      <p:sp>
        <p:nvSpPr>
          <p:cNvPr id="4" name="conclusions"/>
          <p:cNvSpPr/>
          <p:nvPr/>
        </p:nvSpPr>
        <p:spPr>
          <a:xfrm>
            <a:off x="548640" y="1371600"/>
            <a:ext cx="5394960" cy="4434840"/>
          </a:xfrm>
          <a:prstGeom prst="roundRect">
            <a:avLst>
              <a:gd name="adj" fmla="val 1649"/>
            </a:avLst>
          </a:prstGeom>
          <a:solidFill>
            <a:schemeClr val="tx2"/>
          </a:solidFill>
          <a:ln w="12700">
            <a:solidFill>
              <a:schemeClr val="tx2"/>
            </a:solidFill>
            <a:prstDash val="solid"/>
          </a:ln>
        </p:spPr>
      </p:sp>
      <p:sp>
        <p:nvSpPr>
          <p:cNvPr id="5" name="Text 2"/>
          <p:cNvSpPr txBox="1"/>
          <p:nvPr/>
        </p:nvSpPr>
        <p:spPr>
          <a:xfrm>
            <a:off x="822960" y="1554480"/>
            <a:ext cx="4846320" cy="457200"/>
          </a:xfrm>
          <a:prstGeom prst="rect">
            <a:avLst/>
          </a:prstGeom>
          <a:noFill/>
          <a:ln/>
        </p:spPr>
        <p:txBody>
          <a:bodyPr wrap="square" lIns="0" tIns="0" rIns="0" bIns="0" rtlCol="0" anchor="t"/>
          <a:lstStyle/>
          <a:p>
            <a:pPr indent="0" marL="0">
              <a:buNone/>
            </a:pPr>
            <a:r>
              <a:rPr lang="en-US" sz="2000" b="1" dirty="0">
                <a:solidFill>
                  <a:schemeClr val="bg1"/>
                </a:solidFill>
              </a:rPr>
              <a:t>Conclusions</a:t>
            </a:r>
            <a:endParaRPr lang="en-US" sz="2000" dirty="0"/>
          </a:p>
        </p:txBody>
      </p:sp>
      <p:sp>
        <p:nvSpPr>
          <p:cNvPr id="6" name="Text 3"/>
          <p:cNvSpPr txBox="1"/>
          <p:nvPr/>
        </p:nvSpPr>
        <p:spPr>
          <a:xfrm>
            <a:off x="822960" y="2103120"/>
            <a:ext cx="4846320" cy="3566160"/>
          </a:xfrm>
          <a:prstGeom prst="rect">
            <a:avLst/>
          </a:prstGeom>
          <a:noFill/>
          <a:ln/>
        </p:spPr>
        <p:txBody>
          <a:bodyPr wrap="square" rtlCol="0" anchor="t"/>
          <a:lstStyle/>
          <a:p>
            <a:pPr marL="342900" indent="-342900">
              <a:spcAft>
                <a:spcPts val="1000"/>
              </a:spcAft>
              <a:buSzPct val="100000"/>
              <a:buChar char="•"/>
            </a:pPr>
            <a:r>
              <a:rPr lang="en-US" sz="1600" dirty="0">
                <a:solidFill>
                  <a:schemeClr val="bg1"/>
                </a:solidFill>
              </a:rPr>
              <a:t>AI chatbots are now the main source of pre-consultation health information (88.7%)</a:t>
            </a:r>
            <a:endParaRPr lang="en-US" sz="1600" dirty="0"/>
          </a:p>
          <a:p>
            <a:pPr marL="342900" indent="-342900">
              <a:spcAft>
                <a:spcPts val="1000"/>
              </a:spcAft>
              <a:buSzPct val="100000"/>
              <a:buChar char="•"/>
            </a:pPr>
            <a:r>
              <a:rPr lang="en-US" sz="1600" dirty="0">
                <a:solidFill>
                  <a:schemeClr val="bg1"/>
                </a:solidFill>
              </a:rPr>
              <a:t>Health anxiety and cyberchondria are linked (r = 0.47), via excessive searching and distress</a:t>
            </a:r>
            <a:endParaRPr lang="en-US" sz="1600" dirty="0"/>
          </a:p>
          <a:p>
            <a:pPr marL="342900" indent="-342900">
              <a:spcAft>
                <a:spcPts val="1000"/>
              </a:spcAft>
              <a:buSzPct val="100000"/>
              <a:buChar char="•"/>
            </a:pPr>
            <a:r>
              <a:rPr lang="en-US" sz="1600" dirty="0">
                <a:solidFill>
                  <a:schemeClr val="bg1"/>
                </a:solidFill>
              </a:rPr>
              <a:t>Searching shapes the consultation: false reassurance, over-use, and hidden searches</a:t>
            </a:r>
            <a:endParaRPr lang="en-US" sz="1600" dirty="0"/>
          </a:p>
        </p:txBody>
      </p:sp>
      <p:sp>
        <p:nvSpPr>
          <p:cNvPr id="7" name="marker 1"/>
          <p:cNvSpPr/>
          <p:nvPr/>
        </p:nvSpPr>
        <p:spPr>
          <a:xfrm>
            <a:off x="6263640" y="1554480"/>
            <a:ext cx="502920" cy="502920"/>
          </a:xfrm>
          <a:prstGeom prst="ellipse">
            <a:avLst/>
          </a:prstGeom>
          <a:solidFill>
            <a:schemeClr val="accent1"/>
          </a:solidFill>
          <a:ln w="12700">
            <a:solidFill>
              <a:schemeClr val="accent1"/>
            </a:solidFill>
            <a:prstDash val="solid"/>
          </a:ln>
        </p:spPr>
      </p:sp>
      <p:sp>
        <p:nvSpPr>
          <p:cNvPr id="8" name="Text 5"/>
          <p:cNvSpPr txBox="1"/>
          <p:nvPr/>
        </p:nvSpPr>
        <p:spPr>
          <a:xfrm>
            <a:off x="6263640" y="1554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6949440" y="1417320"/>
            <a:ext cx="4663440" cy="365760"/>
          </a:xfrm>
          <a:prstGeom prst="rect">
            <a:avLst/>
          </a:prstGeom>
          <a:noFill/>
          <a:ln/>
        </p:spPr>
        <p:txBody>
          <a:bodyPr wrap="square" lIns="0" tIns="0" rIns="0" bIns="0" rtlCol="0" anchor="t"/>
          <a:lstStyle/>
          <a:p>
            <a:pPr indent="0" marL="0">
              <a:buNone/>
            </a:pPr>
            <a:r>
              <a:rPr lang="en-US" sz="1700" b="1" dirty="0">
                <a:solidFill>
                  <a:schemeClr val="tx2"/>
                </a:solidFill>
              </a:rPr>
              <a:t>Clinicians</a:t>
            </a:r>
            <a:endParaRPr lang="en-US" sz="1700" dirty="0"/>
          </a:p>
        </p:txBody>
      </p:sp>
      <p:sp>
        <p:nvSpPr>
          <p:cNvPr id="10" name="Text 7"/>
          <p:cNvSpPr txBox="1"/>
          <p:nvPr/>
        </p:nvSpPr>
        <p:spPr>
          <a:xfrm>
            <a:off x="6949440" y="1783080"/>
            <a:ext cx="4663440" cy="594360"/>
          </a:xfrm>
          <a:prstGeom prst="rect">
            <a:avLst/>
          </a:prstGeom>
          <a:noFill/>
          <a:ln/>
        </p:spPr>
        <p:txBody>
          <a:bodyPr wrap="square" lIns="0" tIns="0" rIns="0" bIns="0" rtlCol="0" anchor="t"/>
          <a:lstStyle/>
          <a:p>
            <a:pPr indent="0" marL="0">
              <a:buNone/>
            </a:pPr>
            <a:r>
              <a:rPr lang="en-US" sz="1500" dirty="0">
                <a:solidFill>
                  <a:schemeClr val="tx1"/>
                </a:solidFill>
              </a:rPr>
              <a:t>Ask every patient, without judgement, what they searched or asked an AI</a:t>
            </a:r>
            <a:endParaRPr lang="en-US" sz="1500" dirty="0"/>
          </a:p>
        </p:txBody>
      </p:sp>
      <p:sp>
        <p:nvSpPr>
          <p:cNvPr id="11" name="marker 2"/>
          <p:cNvSpPr/>
          <p:nvPr/>
        </p:nvSpPr>
        <p:spPr>
          <a:xfrm>
            <a:off x="6263640" y="2670048"/>
            <a:ext cx="502920" cy="502920"/>
          </a:xfrm>
          <a:prstGeom prst="ellipse">
            <a:avLst/>
          </a:prstGeom>
          <a:solidFill>
            <a:schemeClr val="accent1"/>
          </a:solidFill>
          <a:ln w="12700">
            <a:solidFill>
              <a:schemeClr val="accent1"/>
            </a:solidFill>
            <a:prstDash val="solid"/>
          </a:ln>
        </p:spPr>
      </p:sp>
      <p:sp>
        <p:nvSpPr>
          <p:cNvPr id="12" name="Text 9"/>
          <p:cNvSpPr txBox="1"/>
          <p:nvPr/>
        </p:nvSpPr>
        <p:spPr>
          <a:xfrm>
            <a:off x="6263640" y="267004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6949440" y="2532888"/>
            <a:ext cx="4663440" cy="365760"/>
          </a:xfrm>
          <a:prstGeom prst="rect">
            <a:avLst/>
          </a:prstGeom>
          <a:noFill/>
          <a:ln/>
        </p:spPr>
        <p:txBody>
          <a:bodyPr wrap="square" lIns="0" tIns="0" rIns="0" bIns="0" rtlCol="0" anchor="t"/>
          <a:lstStyle/>
          <a:p>
            <a:pPr indent="0" marL="0">
              <a:buNone/>
            </a:pPr>
            <a:r>
              <a:rPr lang="en-US" sz="1700" b="1" dirty="0">
                <a:solidFill>
                  <a:schemeClr val="tx2"/>
                </a:solidFill>
              </a:rPr>
              <a:t>Public health</a:t>
            </a:r>
            <a:endParaRPr lang="en-US" sz="1700" dirty="0"/>
          </a:p>
        </p:txBody>
      </p:sp>
      <p:sp>
        <p:nvSpPr>
          <p:cNvPr id="14" name="Text 11"/>
          <p:cNvSpPr txBox="1"/>
          <p:nvPr/>
        </p:nvSpPr>
        <p:spPr>
          <a:xfrm>
            <a:off x="6949440" y="2898648"/>
            <a:ext cx="4663440" cy="594360"/>
          </a:xfrm>
          <a:prstGeom prst="rect">
            <a:avLst/>
          </a:prstGeom>
          <a:noFill/>
          <a:ln/>
        </p:spPr>
        <p:txBody>
          <a:bodyPr wrap="square" lIns="0" tIns="0" rIns="0" bIns="0" rtlCol="0" anchor="t"/>
          <a:lstStyle/>
          <a:p>
            <a:pPr indent="0" marL="0">
              <a:buNone/>
            </a:pPr>
            <a:r>
              <a:rPr lang="en-US" sz="1500" dirty="0">
                <a:solidFill>
                  <a:schemeClr val="tx1"/>
                </a:solidFill>
              </a:rPr>
              <a:t>Arabic digital and AI health-literacy campaigns; warn about false reassurance</a:t>
            </a:r>
            <a:endParaRPr lang="en-US" sz="1500" dirty="0"/>
          </a:p>
        </p:txBody>
      </p:sp>
      <p:sp>
        <p:nvSpPr>
          <p:cNvPr id="15" name="marker 3"/>
          <p:cNvSpPr/>
          <p:nvPr/>
        </p:nvSpPr>
        <p:spPr>
          <a:xfrm>
            <a:off x="6263640" y="3785616"/>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6263640" y="378561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6949440" y="3648456"/>
            <a:ext cx="4663440" cy="365760"/>
          </a:xfrm>
          <a:prstGeom prst="rect">
            <a:avLst/>
          </a:prstGeom>
          <a:noFill/>
          <a:ln/>
        </p:spPr>
        <p:txBody>
          <a:bodyPr wrap="square" lIns="0" tIns="0" rIns="0" bIns="0" rtlCol="0" anchor="t"/>
          <a:lstStyle/>
          <a:p>
            <a:pPr indent="0" marL="0">
              <a:buNone/>
            </a:pPr>
            <a:r>
              <a:rPr lang="en-US" sz="1700" b="1" dirty="0">
                <a:solidFill>
                  <a:schemeClr val="tx2"/>
                </a:solidFill>
              </a:rPr>
              <a:t>AI developers</a:t>
            </a:r>
            <a:endParaRPr lang="en-US" sz="1700" dirty="0"/>
          </a:p>
        </p:txBody>
      </p:sp>
      <p:sp>
        <p:nvSpPr>
          <p:cNvPr id="18" name="Text 15"/>
          <p:cNvSpPr txBox="1"/>
          <p:nvPr/>
        </p:nvSpPr>
        <p:spPr>
          <a:xfrm>
            <a:off x="6949440" y="4014216"/>
            <a:ext cx="4663440" cy="594360"/>
          </a:xfrm>
          <a:prstGeom prst="rect">
            <a:avLst/>
          </a:prstGeom>
          <a:noFill/>
          <a:ln/>
        </p:spPr>
        <p:txBody>
          <a:bodyPr wrap="square" lIns="0" tIns="0" rIns="0" bIns="0" rtlCol="0" anchor="t"/>
          <a:lstStyle/>
          <a:p>
            <a:pPr indent="0" marL="0">
              <a:buNone/>
            </a:pPr>
            <a:r>
              <a:rPr lang="en-US" sz="1500" dirty="0">
                <a:solidFill>
                  <a:schemeClr val="tx1"/>
                </a:solidFill>
              </a:rPr>
              <a:t>Anxiety-aware answers that do not escalate rare diagnoses</a:t>
            </a:r>
            <a:endParaRPr lang="en-US" sz="1500" dirty="0"/>
          </a:p>
        </p:txBody>
      </p:sp>
      <p:sp>
        <p:nvSpPr>
          <p:cNvPr id="19" name="marker 4"/>
          <p:cNvSpPr/>
          <p:nvPr/>
        </p:nvSpPr>
        <p:spPr>
          <a:xfrm>
            <a:off x="6263640" y="4901184"/>
            <a:ext cx="502920" cy="502920"/>
          </a:xfrm>
          <a:prstGeom prst="ellipse">
            <a:avLst/>
          </a:prstGeom>
          <a:solidFill>
            <a:schemeClr val="accent1"/>
          </a:solidFill>
          <a:ln w="12700">
            <a:solidFill>
              <a:schemeClr val="accent1"/>
            </a:solidFill>
            <a:prstDash val="solid"/>
          </a:ln>
        </p:spPr>
      </p:sp>
      <p:sp>
        <p:nvSpPr>
          <p:cNvPr id="20" name="Text 17"/>
          <p:cNvSpPr txBox="1"/>
          <p:nvPr/>
        </p:nvSpPr>
        <p:spPr>
          <a:xfrm>
            <a:off x="6263640" y="490118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6949440" y="4764024"/>
            <a:ext cx="4663440" cy="365760"/>
          </a:xfrm>
          <a:prstGeom prst="rect">
            <a:avLst/>
          </a:prstGeom>
          <a:noFill/>
          <a:ln/>
        </p:spPr>
        <p:txBody>
          <a:bodyPr wrap="square" lIns="0" tIns="0" rIns="0" bIns="0" rtlCol="0" anchor="t"/>
          <a:lstStyle/>
          <a:p>
            <a:pPr indent="0" marL="0">
              <a:buNone/>
            </a:pPr>
            <a:r>
              <a:rPr lang="en-US" sz="1700" b="1" dirty="0">
                <a:solidFill>
                  <a:schemeClr val="tx2"/>
                </a:solidFill>
              </a:rPr>
              <a:t>Research</a:t>
            </a:r>
            <a:endParaRPr lang="en-US" sz="1700" dirty="0"/>
          </a:p>
        </p:txBody>
      </p:sp>
      <p:sp>
        <p:nvSpPr>
          <p:cNvPr id="22" name="Text 19"/>
          <p:cNvSpPr txBox="1"/>
          <p:nvPr/>
        </p:nvSpPr>
        <p:spPr>
          <a:xfrm>
            <a:off x="6949440" y="5129784"/>
            <a:ext cx="4663440" cy="594360"/>
          </a:xfrm>
          <a:prstGeom prst="rect">
            <a:avLst/>
          </a:prstGeom>
          <a:noFill/>
          <a:ln/>
        </p:spPr>
        <p:txBody>
          <a:bodyPr wrap="square" lIns="0" tIns="0" rIns="0" bIns="0" rtlCol="0" anchor="t"/>
          <a:lstStyle/>
          <a:p>
            <a:pPr indent="0" marL="0">
              <a:buNone/>
            </a:pPr>
            <a:r>
              <a:rPr lang="en-US" sz="1500" dirty="0">
                <a:solidFill>
                  <a:schemeClr val="tx1"/>
                </a:solidFill>
              </a:rPr>
              <a:t>Longitudinal studies; formal Arabic validation; random sampling</a:t>
            </a:r>
            <a:endParaRPr lang="en-US" sz="1500" dirty="0"/>
          </a:p>
        </p:txBody>
      </p:sp>
      <p:sp>
        <p:nvSpPr>
          <p:cNvPr id="25" name="Slide Number Placeholder 0"/>
          <p:cNvSpPr>
            <a:spLocks noGrp="1"/>
          </p:cNvSpPr>
          <p:nvPr>
            <p:ph type="sldNum" sz="quarter" idx="4294967295"/>
          </p:nvPr>
        </p:nvSpPr>
        <p:spPr>
          <a:xfrm>
            <a:off x="1127729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201168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4" name="Text 0"/>
          <p:cNvSpPr/>
          <p:nvPr>
            <p:ph idx="101" type="body" hasCustomPrompt="1"/>
          </p:nvPr>
        </p:nvSpPr>
        <p:spPr>
          <a:xfrm>
            <a:off x="548640" y="3977640"/>
            <a:ext cx="11094415" cy="1463040"/>
          </a:xfrm>
          <a:prstGeom prst="rect">
            <a:avLst/>
          </a:prstGeom>
          <a:noFill/>
          <a:ln/>
        </p:spPr>
        <p:txBody>
          <a:bodyPr wrap="square" rtlCol="0" anchor="t"/>
          <a:lstStyle/>
          <a:p>
            <a:pPr indent="0" marL="0">
              <a:buNone/>
            </a:pPr>
            <a:r>
              <a:rPr lang="en-US" sz="1800" dirty="0">
                <a:solidFill>
                  <a:schemeClr val="bg2"/>
                </a:solidFill>
              </a:rPr>
              <a:t>Questions are welcome</a:t>
            </a:r>
            <a:endParaRPr lang="en-US" sz="1800" dirty="0"/>
          </a:p>
          <a:p>
            <a:pPr indent="0" marL="0">
              <a:buNone/>
            </a:pPr>
            <a:r>
              <a:rPr lang="en-US" sz="1800" dirty="0">
                <a:solidFill>
                  <a:schemeClr val="bg2"/>
                </a:solidFill>
              </a:rPr>
              <a:t>Health anxiety ↔ cyberchondria: r = 0.47  ·  AI chatbots used by 88.7%  ·  31.7% never tell their doctor</a:t>
            </a:r>
            <a:endParaRPr lang="en-US" sz="1800" dirty="0"/>
          </a:p>
        </p:txBody>
      </p:sp>
    </p:spTree>
  </p:cSld>
  <p:clrMapOvr>
    <a:masterClrMapping/>
  </p:clrMapOvr>
</p:sld>
</file>

<file path=ppt/theme/theme1.xml><?xml version="1.0" encoding="utf-8"?>
<a:theme xmlns:a="http://schemas.openxmlformats.org/drawingml/2006/main" name="Cyberchondria Baghdad">
  <a:themeElements>
    <a:clrScheme name="Cyberchondria Baghdad">
      <a:dk1>
        <a:srgbClr val="1B1B1B"/>
      </a:dk1>
      <a:lt1>
        <a:srgbClr val="FFFFFF"/>
      </a:lt1>
      <a:dk2>
        <a:srgbClr val="0B2545"/>
      </a:dk2>
      <a:lt2>
        <a:srgbClr val="EEF3FA"/>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yberchondria Baghda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Search Engines, and Cyberchondria</dc:title>
  <dc:subject>Graduation research defence</dc:subject>
  <dc:creator>PptxGenJS</dc:creator>
  <cp:lastModifiedBy>PptxGenJS</cp:lastModifiedBy>
  <cp:revision>1</cp:revision>
  <dcterms:created xsi:type="dcterms:W3CDTF">2026-10-16T22:01:33Z</dcterms:created>
  <dcterms:modified xsi:type="dcterms:W3CDTF">2026-10-16T22:01:33Z</dcterms:modified>
</cp:coreProperties>
</file>